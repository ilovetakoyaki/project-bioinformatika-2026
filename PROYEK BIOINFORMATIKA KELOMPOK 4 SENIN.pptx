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Zen Dots" charset="1" panose="00000000000000000000"/>
      <p:regular r:id="rId14"/>
    </p:embeddedFont>
    <p:embeddedFont>
      <p:font typeface="ABeeZee" charset="1" panose="02000000000000000000"/>
      <p:regular r:id="rId15"/>
    </p:embeddedFont>
    <p:embeddedFont>
      <p:font typeface="ABeeZee Bold" charset="1" panose="02000000000000000000"/>
      <p:regular r:id="rId16"/>
    </p:embeddedFont>
    <p:embeddedFont>
      <p:font typeface="ABeeZee Italics" charset="1" panose="020000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11" Target="../media/image17.png" Type="http://schemas.openxmlformats.org/officeDocument/2006/relationships/image"/><Relationship Id="rId12"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4.png" Type="http://schemas.openxmlformats.org/officeDocument/2006/relationships/image"/><Relationship Id="rId9" Target="../media/image1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11" Target="../media/image28.svg" Type="http://schemas.openxmlformats.org/officeDocument/2006/relationships/image"/><Relationship Id="rId12" Target="../media/image29.png" Type="http://schemas.openxmlformats.org/officeDocument/2006/relationships/image"/><Relationship Id="rId13" Target="../media/image30.svg" Type="http://schemas.openxmlformats.org/officeDocument/2006/relationships/image"/><Relationship Id="rId14" Target="../media/image31.png" Type="http://schemas.openxmlformats.org/officeDocument/2006/relationships/image"/><Relationship Id="rId15" Target="../media/image32.sv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11" Target="../media/image38.png" Type="http://schemas.openxmlformats.org/officeDocument/2006/relationships/image"/><Relationship Id="rId12" Target="../media/image39.svg" Type="http://schemas.openxmlformats.org/officeDocument/2006/relationships/image"/><Relationship Id="rId13" Target="../media/image40.png" Type="http://schemas.openxmlformats.org/officeDocument/2006/relationships/image"/><Relationship Id="rId14" Target="../media/image41.sv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35.png" Type="http://schemas.openxmlformats.org/officeDocument/2006/relationships/image"/><Relationship Id="rId9" Target="../media/image3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svg" Type="http://schemas.openxmlformats.org/officeDocument/2006/relationships/image"/><Relationship Id="rId11" Target="../media/image45.png" Type="http://schemas.openxmlformats.org/officeDocument/2006/relationships/image"/><Relationship Id="rId12" Target="../media/image46.svg" Type="http://schemas.openxmlformats.org/officeDocument/2006/relationships/image"/><Relationship Id="rId13" Target="../media/image47.png" Type="http://schemas.openxmlformats.org/officeDocument/2006/relationships/image"/><Relationship Id="rId14" Target="../media/image48.sv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42.png" Type="http://schemas.openxmlformats.org/officeDocument/2006/relationships/image"/><Relationship Id="rId9" Target="../media/image4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 Id="rId3" Target="../media/image50.pn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47.png" Type="http://schemas.openxmlformats.org/officeDocument/2006/relationships/image"/><Relationship Id="rId7" Target="../media/image48.svg" Type="http://schemas.openxmlformats.org/officeDocument/2006/relationships/image"/><Relationship Id="rId8" Target="../media/image51.png" Type="http://schemas.openxmlformats.org/officeDocument/2006/relationships/image"/><Relationship Id="rId9" Target="../media/image5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svg" Type="http://schemas.openxmlformats.org/officeDocument/2006/relationships/image"/><Relationship Id="rId4" Target="../media/image55.png" Type="http://schemas.openxmlformats.org/officeDocument/2006/relationships/image"/><Relationship Id="rId5" Target="../media/image56.png" Type="http://schemas.openxmlformats.org/officeDocument/2006/relationships/image"/><Relationship Id="rId6" Target="../media/image57.svg" Type="http://schemas.openxmlformats.org/officeDocument/2006/relationships/image"/><Relationship Id="rId7" Target="../media/image58.png" Type="http://schemas.openxmlformats.org/officeDocument/2006/relationships/image"/><Relationship Id="rId8" Target="../media/image59.svg" Type="http://schemas.openxmlformats.org/officeDocument/2006/relationships/image"/><Relationship Id="rId9" Target="../media/image6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5.png" Type="http://schemas.openxmlformats.org/officeDocument/2006/relationships/image"/><Relationship Id="rId13" Target="../media/image6.svg" Type="http://schemas.openxmlformats.org/officeDocument/2006/relationships/image"/><Relationship Id="rId14" Target="../media/image7.png" Type="http://schemas.openxmlformats.org/officeDocument/2006/relationships/image"/><Relationship Id="rId15" Target="../media/image8.svg" Type="http://schemas.openxmlformats.org/officeDocument/2006/relationships/image"/><Relationship Id="rId16" Target="../media/image4.png" Type="http://schemas.openxmlformats.org/officeDocument/2006/relationships/image"/><Relationship Id="rId17" Target="../media/image1.png" Type="http://schemas.openxmlformats.org/officeDocument/2006/relationships/image"/><Relationship Id="rId2" Target="../media/image61.png" Type="http://schemas.openxmlformats.org/officeDocument/2006/relationships/image"/><Relationship Id="rId3" Target="../media/image62.svg" Type="http://schemas.openxmlformats.org/officeDocument/2006/relationships/image"/><Relationship Id="rId4" Target="../media/image63.png" Type="http://schemas.openxmlformats.org/officeDocument/2006/relationships/image"/><Relationship Id="rId5" Target="../media/image64.svg" Type="http://schemas.openxmlformats.org/officeDocument/2006/relationships/image"/><Relationship Id="rId6" Target="../media/image65.png" Type="http://schemas.openxmlformats.org/officeDocument/2006/relationships/image"/><Relationship Id="rId7" Target="../media/image66.svg" Type="http://schemas.openxmlformats.org/officeDocument/2006/relationships/image"/><Relationship Id="rId8" Target="../media/image67.png" Type="http://schemas.openxmlformats.org/officeDocument/2006/relationships/image"/><Relationship Id="rId9" Target="../media/image6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500504">
            <a:off x="10393225" y="-2663924"/>
            <a:ext cx="10616097" cy="15614849"/>
          </a:xfrm>
          <a:custGeom>
            <a:avLst/>
            <a:gdLst/>
            <a:ahLst/>
            <a:cxnLst/>
            <a:rect r="r" b="b" t="t" l="l"/>
            <a:pathLst>
              <a:path h="15614849" w="10616097">
                <a:moveTo>
                  <a:pt x="0" y="0"/>
                </a:moveTo>
                <a:lnTo>
                  <a:pt x="10616097" y="0"/>
                </a:lnTo>
                <a:lnTo>
                  <a:pt x="10616097" y="15614848"/>
                </a:lnTo>
                <a:lnTo>
                  <a:pt x="0" y="15614848"/>
                </a:lnTo>
                <a:lnTo>
                  <a:pt x="0" y="0"/>
                </a:lnTo>
                <a:close/>
              </a:path>
            </a:pathLst>
          </a:custGeom>
          <a:blipFill>
            <a:blip r:embed="rId2"/>
            <a:stretch>
              <a:fillRect l="0" t="0" r="-25692" b="0"/>
            </a:stretch>
          </a:blipFill>
        </p:spPr>
      </p:sp>
      <p:sp>
        <p:nvSpPr>
          <p:cNvPr name="Freeform 3" id="3"/>
          <p:cNvSpPr/>
          <p:nvPr/>
        </p:nvSpPr>
        <p:spPr>
          <a:xfrm flipH="false" flipV="false" rot="-754237">
            <a:off x="14771716" y="-3086100"/>
            <a:ext cx="7032567" cy="8229600"/>
          </a:xfrm>
          <a:custGeom>
            <a:avLst/>
            <a:gdLst/>
            <a:ahLst/>
            <a:cxnLst/>
            <a:rect r="r" b="b" t="t" l="l"/>
            <a:pathLst>
              <a:path h="8229600" w="7032567">
                <a:moveTo>
                  <a:pt x="0" y="0"/>
                </a:moveTo>
                <a:lnTo>
                  <a:pt x="7032568" y="0"/>
                </a:lnTo>
                <a:lnTo>
                  <a:pt x="7032568"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2035022" y="604228"/>
            <a:ext cx="1287238" cy="1284898"/>
          </a:xfrm>
          <a:custGeom>
            <a:avLst/>
            <a:gdLst/>
            <a:ahLst/>
            <a:cxnLst/>
            <a:rect r="r" b="b" t="t" l="l"/>
            <a:pathLst>
              <a:path h="1284898" w="1287238">
                <a:moveTo>
                  <a:pt x="0" y="0"/>
                </a:moveTo>
                <a:lnTo>
                  <a:pt x="1287238" y="0"/>
                </a:lnTo>
                <a:lnTo>
                  <a:pt x="1287238" y="1284897"/>
                </a:lnTo>
                <a:lnTo>
                  <a:pt x="0" y="1284897"/>
                </a:lnTo>
                <a:lnTo>
                  <a:pt x="0" y="0"/>
                </a:lnTo>
                <a:close/>
              </a:path>
            </a:pathLst>
          </a:custGeom>
          <a:blipFill>
            <a:blip r:embed="rId4"/>
            <a:stretch>
              <a:fillRect l="0" t="0" r="0" b="0"/>
            </a:stretch>
          </a:blipFill>
        </p:spPr>
      </p:sp>
      <p:sp>
        <p:nvSpPr>
          <p:cNvPr name="Freeform 5" id="5"/>
          <p:cNvSpPr/>
          <p:nvPr/>
        </p:nvSpPr>
        <p:spPr>
          <a:xfrm flipH="false" flipV="false" rot="0">
            <a:off x="11009559" y="2974975"/>
            <a:ext cx="5901783" cy="5901783"/>
          </a:xfrm>
          <a:custGeom>
            <a:avLst/>
            <a:gdLst/>
            <a:ahLst/>
            <a:cxnLst/>
            <a:rect r="r" b="b" t="t" l="l"/>
            <a:pathLst>
              <a:path h="5901783" w="5901783">
                <a:moveTo>
                  <a:pt x="0" y="0"/>
                </a:moveTo>
                <a:lnTo>
                  <a:pt x="5901783" y="0"/>
                </a:lnTo>
                <a:lnTo>
                  <a:pt x="5901783" y="5901783"/>
                </a:lnTo>
                <a:lnTo>
                  <a:pt x="0" y="5901783"/>
                </a:lnTo>
                <a:lnTo>
                  <a:pt x="0" y="0"/>
                </a:lnTo>
                <a:close/>
              </a:path>
            </a:pathLst>
          </a:custGeom>
          <a:blipFill>
            <a:blip r:embed="rId5"/>
            <a:stretch>
              <a:fillRect l="0" t="0" r="0" b="0"/>
            </a:stretch>
          </a:blipFill>
        </p:spPr>
      </p:sp>
      <p:sp>
        <p:nvSpPr>
          <p:cNvPr name="Freeform 6" id="6"/>
          <p:cNvSpPr/>
          <p:nvPr/>
        </p:nvSpPr>
        <p:spPr>
          <a:xfrm flipH="false" flipV="false" rot="0">
            <a:off x="15665955" y="208628"/>
            <a:ext cx="2490774" cy="2391143"/>
          </a:xfrm>
          <a:custGeom>
            <a:avLst/>
            <a:gdLst/>
            <a:ahLst/>
            <a:cxnLst/>
            <a:rect r="r" b="b" t="t" l="l"/>
            <a:pathLst>
              <a:path h="2391143" w="2490774">
                <a:moveTo>
                  <a:pt x="0" y="0"/>
                </a:moveTo>
                <a:lnTo>
                  <a:pt x="2490774" y="0"/>
                </a:lnTo>
                <a:lnTo>
                  <a:pt x="2490774" y="2391143"/>
                </a:lnTo>
                <a:lnTo>
                  <a:pt x="0" y="239114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1009559" y="7617567"/>
            <a:ext cx="1709097" cy="1640733"/>
          </a:xfrm>
          <a:custGeom>
            <a:avLst/>
            <a:gdLst/>
            <a:ahLst/>
            <a:cxnLst/>
            <a:rect r="r" b="b" t="t" l="l"/>
            <a:pathLst>
              <a:path h="1640733" w="1709097">
                <a:moveTo>
                  <a:pt x="0" y="0"/>
                </a:moveTo>
                <a:lnTo>
                  <a:pt x="1709097" y="0"/>
                </a:lnTo>
                <a:lnTo>
                  <a:pt x="1709097" y="1640733"/>
                </a:lnTo>
                <a:lnTo>
                  <a:pt x="0" y="16407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1864108" y="1779404"/>
            <a:ext cx="1709097" cy="1640733"/>
          </a:xfrm>
          <a:custGeom>
            <a:avLst/>
            <a:gdLst/>
            <a:ahLst/>
            <a:cxnLst/>
            <a:rect r="r" b="b" t="t" l="l"/>
            <a:pathLst>
              <a:path h="1640733" w="1709097">
                <a:moveTo>
                  <a:pt x="0" y="0"/>
                </a:moveTo>
                <a:lnTo>
                  <a:pt x="1709097" y="0"/>
                </a:lnTo>
                <a:lnTo>
                  <a:pt x="1709097" y="1640733"/>
                </a:lnTo>
                <a:lnTo>
                  <a:pt x="0" y="16407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6306308" y="8437933"/>
            <a:ext cx="1210068" cy="1161666"/>
          </a:xfrm>
          <a:custGeom>
            <a:avLst/>
            <a:gdLst/>
            <a:ahLst/>
            <a:cxnLst/>
            <a:rect r="r" b="b" t="t" l="l"/>
            <a:pathLst>
              <a:path h="1161666" w="1210068">
                <a:moveTo>
                  <a:pt x="0" y="0"/>
                </a:moveTo>
                <a:lnTo>
                  <a:pt x="1210068" y="0"/>
                </a:lnTo>
                <a:lnTo>
                  <a:pt x="1210068" y="1161666"/>
                </a:lnTo>
                <a:lnTo>
                  <a:pt x="0" y="11616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3573205" y="361399"/>
            <a:ext cx="1477089" cy="1418005"/>
          </a:xfrm>
          <a:custGeom>
            <a:avLst/>
            <a:gdLst/>
            <a:ahLst/>
            <a:cxnLst/>
            <a:rect r="r" b="b" t="t" l="l"/>
            <a:pathLst>
              <a:path h="1418005" w="1477089">
                <a:moveTo>
                  <a:pt x="0" y="0"/>
                </a:moveTo>
                <a:lnTo>
                  <a:pt x="1477089" y="0"/>
                </a:lnTo>
                <a:lnTo>
                  <a:pt x="1477089" y="1418005"/>
                </a:lnTo>
                <a:lnTo>
                  <a:pt x="0" y="14180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AutoShape 11" id="11"/>
          <p:cNvSpPr/>
          <p:nvPr/>
        </p:nvSpPr>
        <p:spPr>
          <a:xfrm>
            <a:off x="1990199" y="6393250"/>
            <a:ext cx="3576901" cy="0"/>
          </a:xfrm>
          <a:prstGeom prst="line">
            <a:avLst/>
          </a:prstGeom>
          <a:ln cap="flat" w="38100">
            <a:solidFill>
              <a:srgbClr val="3B2C5D"/>
            </a:solidFill>
            <a:prstDash val="solid"/>
            <a:headEnd type="none" len="sm" w="sm"/>
            <a:tailEnd type="oval" len="lg" w="lg"/>
          </a:ln>
        </p:spPr>
      </p:sp>
      <p:sp>
        <p:nvSpPr>
          <p:cNvPr name="AutoShape 12" id="12"/>
          <p:cNvSpPr/>
          <p:nvPr/>
        </p:nvSpPr>
        <p:spPr>
          <a:xfrm flipV="true">
            <a:off x="6031797" y="6923811"/>
            <a:ext cx="0" cy="1908392"/>
          </a:xfrm>
          <a:prstGeom prst="line">
            <a:avLst/>
          </a:prstGeom>
          <a:ln cap="flat" w="38100">
            <a:solidFill>
              <a:srgbClr val="3B2C5D"/>
            </a:solidFill>
            <a:prstDash val="sysDash"/>
            <a:headEnd type="none" len="sm" w="sm"/>
            <a:tailEnd type="none" len="sm" w="sm"/>
          </a:ln>
        </p:spPr>
      </p:sp>
      <p:sp>
        <p:nvSpPr>
          <p:cNvPr name="TextBox 13" id="13"/>
          <p:cNvSpPr txBox="true"/>
          <p:nvPr/>
        </p:nvSpPr>
        <p:spPr>
          <a:xfrm rot="0">
            <a:off x="1990199" y="2048070"/>
            <a:ext cx="8628835" cy="3413393"/>
          </a:xfrm>
          <a:prstGeom prst="rect">
            <a:avLst/>
          </a:prstGeom>
        </p:spPr>
        <p:txBody>
          <a:bodyPr anchor="t" rtlCol="false" tIns="0" lIns="0" bIns="0" rIns="0">
            <a:spAutoFit/>
          </a:bodyPr>
          <a:lstStyle/>
          <a:p>
            <a:pPr algn="l">
              <a:lnSpc>
                <a:spcPts val="4535"/>
              </a:lnSpc>
            </a:pPr>
            <a:r>
              <a:rPr lang="en-US" sz="3239">
                <a:solidFill>
                  <a:srgbClr val="3B2C5D"/>
                </a:solidFill>
                <a:latin typeface="Zen Dots"/>
                <a:ea typeface="Zen Dots"/>
                <a:cs typeface="Zen Dots"/>
                <a:sym typeface="Zen Dots"/>
              </a:rPr>
              <a:t>ANALISIS EKSPRESI GEN DIFERENSIAL D</a:t>
            </a:r>
            <a:r>
              <a:rPr lang="en-US" sz="3239">
                <a:solidFill>
                  <a:srgbClr val="3B2C5D"/>
                </a:solidFill>
                <a:latin typeface="Zen Dots"/>
                <a:ea typeface="Zen Dots"/>
                <a:cs typeface="Zen Dots"/>
                <a:sym typeface="Zen Dots"/>
              </a:rPr>
              <a:t>AN ENRICHMENT PATHWAY PADA KANKER PANKREAS BERDASARKAN DATASET GEO GSE28735</a:t>
            </a:r>
          </a:p>
        </p:txBody>
      </p:sp>
      <p:sp>
        <p:nvSpPr>
          <p:cNvPr name="TextBox 14" id="14"/>
          <p:cNvSpPr txBox="true"/>
          <p:nvPr/>
        </p:nvSpPr>
        <p:spPr>
          <a:xfrm rot="0">
            <a:off x="1990199" y="5687083"/>
            <a:ext cx="7153801" cy="485206"/>
          </a:xfrm>
          <a:prstGeom prst="rect">
            <a:avLst/>
          </a:prstGeom>
        </p:spPr>
        <p:txBody>
          <a:bodyPr anchor="t" rtlCol="false" tIns="0" lIns="0" bIns="0" rIns="0">
            <a:spAutoFit/>
          </a:bodyPr>
          <a:lstStyle/>
          <a:p>
            <a:pPr algn="l">
              <a:lnSpc>
                <a:spcPts val="3874"/>
              </a:lnSpc>
            </a:pPr>
            <a:r>
              <a:rPr lang="en-US" sz="3099">
                <a:solidFill>
                  <a:srgbClr val="3B2C5D"/>
                </a:solidFill>
                <a:latin typeface="ABeeZee"/>
                <a:ea typeface="ABeeZee"/>
                <a:cs typeface="ABeeZee"/>
                <a:sym typeface="ABeeZee"/>
              </a:rPr>
              <a:t>KELOMPOK 4 SENIN</a:t>
            </a:r>
          </a:p>
        </p:txBody>
      </p:sp>
      <p:sp>
        <p:nvSpPr>
          <p:cNvPr name="TextBox 15" id="15"/>
          <p:cNvSpPr txBox="true"/>
          <p:nvPr/>
        </p:nvSpPr>
        <p:spPr>
          <a:xfrm rot="0">
            <a:off x="6134544" y="7219987"/>
            <a:ext cx="3458320" cy="1073133"/>
          </a:xfrm>
          <a:prstGeom prst="rect">
            <a:avLst/>
          </a:prstGeom>
        </p:spPr>
        <p:txBody>
          <a:bodyPr anchor="t" rtlCol="false" tIns="0" lIns="0" bIns="0" rIns="0">
            <a:spAutoFit/>
          </a:bodyPr>
          <a:lstStyle/>
          <a:p>
            <a:pPr algn="ctr">
              <a:lnSpc>
                <a:spcPts val="2866"/>
              </a:lnSpc>
            </a:pPr>
            <a:r>
              <a:rPr lang="en-US" sz="2293">
                <a:solidFill>
                  <a:srgbClr val="3B2C5D"/>
                </a:solidFill>
                <a:latin typeface="ABeeZee"/>
                <a:ea typeface="ABeeZee"/>
                <a:cs typeface="ABeeZee"/>
                <a:sym typeface="ABeeZee"/>
              </a:rPr>
              <a:t>Bioinformatika Omics (Genomics, Transcriptomics, etc.)</a:t>
            </a:r>
          </a:p>
        </p:txBody>
      </p:sp>
      <p:sp>
        <p:nvSpPr>
          <p:cNvPr name="TextBox 16" id="16"/>
          <p:cNvSpPr txBox="true"/>
          <p:nvPr/>
        </p:nvSpPr>
        <p:spPr>
          <a:xfrm rot="0">
            <a:off x="1990199" y="7040292"/>
            <a:ext cx="3936823" cy="1791667"/>
          </a:xfrm>
          <a:prstGeom prst="rect">
            <a:avLst/>
          </a:prstGeom>
        </p:spPr>
        <p:txBody>
          <a:bodyPr anchor="t" rtlCol="false" tIns="0" lIns="0" bIns="0" rIns="0">
            <a:spAutoFit/>
          </a:bodyPr>
          <a:lstStyle/>
          <a:p>
            <a:pPr algn="ctr">
              <a:lnSpc>
                <a:spcPts val="2866"/>
              </a:lnSpc>
            </a:pPr>
            <a:r>
              <a:rPr lang="en-US" sz="2293">
                <a:solidFill>
                  <a:srgbClr val="3B2C5D"/>
                </a:solidFill>
                <a:latin typeface="ABeeZee"/>
                <a:ea typeface="ABeeZee"/>
                <a:cs typeface="ABeeZee"/>
                <a:sym typeface="ABeeZee"/>
              </a:rPr>
              <a:t>Ade Riyana P. (499349)</a:t>
            </a:r>
          </a:p>
          <a:p>
            <a:pPr algn="ctr">
              <a:lnSpc>
                <a:spcPts val="2866"/>
              </a:lnSpc>
            </a:pPr>
            <a:r>
              <a:rPr lang="en-US" sz="2293">
                <a:solidFill>
                  <a:srgbClr val="3B2C5D"/>
                </a:solidFill>
                <a:latin typeface="ABeeZee"/>
                <a:ea typeface="ABeeZee"/>
                <a:cs typeface="ABeeZee"/>
                <a:sym typeface="ABeeZee"/>
              </a:rPr>
              <a:t>Hanin Izdihar (517672)</a:t>
            </a:r>
          </a:p>
          <a:p>
            <a:pPr algn="ctr">
              <a:lnSpc>
                <a:spcPts val="2866"/>
              </a:lnSpc>
            </a:pPr>
            <a:r>
              <a:rPr lang="en-US" sz="2293">
                <a:solidFill>
                  <a:srgbClr val="3B2C5D"/>
                </a:solidFill>
                <a:latin typeface="ABeeZee"/>
                <a:ea typeface="ABeeZee"/>
                <a:cs typeface="ABeeZee"/>
                <a:sym typeface="ABeeZee"/>
              </a:rPr>
              <a:t>Adha Nurkholifah (518426)</a:t>
            </a:r>
          </a:p>
          <a:p>
            <a:pPr algn="ctr">
              <a:lnSpc>
                <a:spcPts val="2866"/>
              </a:lnSpc>
            </a:pPr>
            <a:r>
              <a:rPr lang="en-US" sz="2293">
                <a:solidFill>
                  <a:srgbClr val="3B2C5D"/>
                </a:solidFill>
                <a:latin typeface="ABeeZee"/>
                <a:ea typeface="ABeeZee"/>
                <a:cs typeface="ABeeZee"/>
                <a:sym typeface="ABeeZee"/>
              </a:rPr>
              <a:t>Talitha Daris N. (518540)</a:t>
            </a:r>
          </a:p>
          <a:p>
            <a:pPr algn="ctr">
              <a:lnSpc>
                <a:spcPts val="2866"/>
              </a:lnSpc>
            </a:pPr>
            <a:r>
              <a:rPr lang="en-US" sz="2293">
                <a:solidFill>
                  <a:srgbClr val="3B2C5D"/>
                </a:solidFill>
                <a:latin typeface="ABeeZee"/>
                <a:ea typeface="ABeeZee"/>
                <a:cs typeface="ABeeZee"/>
                <a:sym typeface="ABeeZee"/>
              </a:rPr>
              <a:t>Devi Korniasari (519029)</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42185" y="835892"/>
            <a:ext cx="5233774" cy="5587922"/>
            <a:chOff x="0" y="0"/>
            <a:chExt cx="1378443" cy="1471716"/>
          </a:xfrm>
        </p:grpSpPr>
        <p:sp>
          <p:nvSpPr>
            <p:cNvPr name="Freeform 3" id="3"/>
            <p:cNvSpPr/>
            <p:nvPr/>
          </p:nvSpPr>
          <p:spPr>
            <a:xfrm flipH="false" flipV="false" rot="0">
              <a:off x="0" y="0"/>
              <a:ext cx="1378443" cy="1471716"/>
            </a:xfrm>
            <a:custGeom>
              <a:avLst/>
              <a:gdLst/>
              <a:ahLst/>
              <a:cxnLst/>
              <a:rect r="r" b="b" t="t" l="l"/>
              <a:pathLst>
                <a:path h="1471716" w="1378443">
                  <a:moveTo>
                    <a:pt x="75440" y="0"/>
                  </a:moveTo>
                  <a:lnTo>
                    <a:pt x="1303002" y="0"/>
                  </a:lnTo>
                  <a:cubicBezTo>
                    <a:pt x="1344667" y="0"/>
                    <a:pt x="1378443" y="33776"/>
                    <a:pt x="1378443" y="75440"/>
                  </a:cubicBezTo>
                  <a:lnTo>
                    <a:pt x="1378443" y="1396276"/>
                  </a:lnTo>
                  <a:cubicBezTo>
                    <a:pt x="1378443" y="1416284"/>
                    <a:pt x="1370494" y="1435472"/>
                    <a:pt x="1356347" y="1449620"/>
                  </a:cubicBezTo>
                  <a:cubicBezTo>
                    <a:pt x="1342199" y="1463768"/>
                    <a:pt x="1323010" y="1471716"/>
                    <a:pt x="1303002" y="1471716"/>
                  </a:cubicBezTo>
                  <a:lnTo>
                    <a:pt x="75440" y="1471716"/>
                  </a:lnTo>
                  <a:cubicBezTo>
                    <a:pt x="55432" y="1471716"/>
                    <a:pt x="36244" y="1463768"/>
                    <a:pt x="22096" y="1449620"/>
                  </a:cubicBezTo>
                  <a:cubicBezTo>
                    <a:pt x="7948" y="1435472"/>
                    <a:pt x="0" y="1416284"/>
                    <a:pt x="0" y="1396276"/>
                  </a:cubicBezTo>
                  <a:lnTo>
                    <a:pt x="0" y="75440"/>
                  </a:lnTo>
                  <a:cubicBezTo>
                    <a:pt x="0" y="55432"/>
                    <a:pt x="7948" y="36244"/>
                    <a:pt x="22096" y="22096"/>
                  </a:cubicBezTo>
                  <a:cubicBezTo>
                    <a:pt x="36244" y="7948"/>
                    <a:pt x="55432" y="0"/>
                    <a:pt x="75440" y="0"/>
                  </a:cubicBezTo>
                  <a:close/>
                </a:path>
              </a:pathLst>
            </a:custGeom>
            <a:solidFill>
              <a:srgbClr val="C8B3DF">
                <a:alpha val="44706"/>
              </a:srgbClr>
            </a:solidFill>
            <a:ln w="95250" cap="rnd">
              <a:solidFill>
                <a:srgbClr val="3B2C5D">
                  <a:alpha val="44706"/>
                </a:srgbClr>
              </a:solidFill>
              <a:prstDash val="lgDash"/>
              <a:round/>
            </a:ln>
          </p:spPr>
        </p:sp>
        <p:sp>
          <p:nvSpPr>
            <p:cNvPr name="TextBox 4" id="4"/>
            <p:cNvSpPr txBox="true"/>
            <p:nvPr/>
          </p:nvSpPr>
          <p:spPr>
            <a:xfrm>
              <a:off x="0" y="-38100"/>
              <a:ext cx="1378443" cy="1509816"/>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76025" y="2434988"/>
            <a:ext cx="2669697" cy="0"/>
          </a:xfrm>
          <a:prstGeom prst="line">
            <a:avLst/>
          </a:prstGeom>
          <a:ln cap="flat" w="38100">
            <a:solidFill>
              <a:srgbClr val="3B2C5D"/>
            </a:solidFill>
            <a:prstDash val="solid"/>
            <a:headEnd type="none" len="sm" w="sm"/>
            <a:tailEnd type="oval" len="lg" w="lg"/>
          </a:ln>
        </p:spPr>
      </p:sp>
      <p:grpSp>
        <p:nvGrpSpPr>
          <p:cNvPr name="Group 6" id="6"/>
          <p:cNvGrpSpPr/>
          <p:nvPr/>
        </p:nvGrpSpPr>
        <p:grpSpPr>
          <a:xfrm rot="0">
            <a:off x="7923665" y="3814455"/>
            <a:ext cx="9474865" cy="2658090"/>
            <a:chOff x="0" y="0"/>
            <a:chExt cx="2495438" cy="700073"/>
          </a:xfrm>
        </p:grpSpPr>
        <p:sp>
          <p:nvSpPr>
            <p:cNvPr name="Freeform 7" id="7"/>
            <p:cNvSpPr/>
            <p:nvPr/>
          </p:nvSpPr>
          <p:spPr>
            <a:xfrm flipH="false" flipV="false" rot="0">
              <a:off x="0" y="0"/>
              <a:ext cx="2495438" cy="700073"/>
            </a:xfrm>
            <a:custGeom>
              <a:avLst/>
              <a:gdLst/>
              <a:ahLst/>
              <a:cxnLst/>
              <a:rect r="r" b="b" t="t" l="l"/>
              <a:pathLst>
                <a:path h="700073" w="2495438">
                  <a:moveTo>
                    <a:pt x="41672" y="0"/>
                  </a:moveTo>
                  <a:lnTo>
                    <a:pt x="2453766" y="0"/>
                  </a:lnTo>
                  <a:cubicBezTo>
                    <a:pt x="2476781" y="0"/>
                    <a:pt x="2495438" y="18657"/>
                    <a:pt x="2495438" y="41672"/>
                  </a:cubicBezTo>
                  <a:lnTo>
                    <a:pt x="2495438" y="658401"/>
                  </a:lnTo>
                  <a:cubicBezTo>
                    <a:pt x="2495438" y="669453"/>
                    <a:pt x="2491047" y="680052"/>
                    <a:pt x="2483232" y="687868"/>
                  </a:cubicBezTo>
                  <a:cubicBezTo>
                    <a:pt x="2475417" y="695683"/>
                    <a:pt x="2464818" y="700073"/>
                    <a:pt x="2453766" y="700073"/>
                  </a:cubicBezTo>
                  <a:lnTo>
                    <a:pt x="41672" y="700073"/>
                  </a:lnTo>
                  <a:cubicBezTo>
                    <a:pt x="18657" y="700073"/>
                    <a:pt x="0" y="681416"/>
                    <a:pt x="0" y="658401"/>
                  </a:cubicBezTo>
                  <a:lnTo>
                    <a:pt x="0" y="41672"/>
                  </a:lnTo>
                  <a:cubicBezTo>
                    <a:pt x="0" y="30620"/>
                    <a:pt x="4390" y="20021"/>
                    <a:pt x="12205" y="12205"/>
                  </a:cubicBezTo>
                  <a:cubicBezTo>
                    <a:pt x="20021" y="4390"/>
                    <a:pt x="30620" y="0"/>
                    <a:pt x="41672" y="0"/>
                  </a:cubicBezTo>
                  <a:close/>
                </a:path>
              </a:pathLst>
            </a:custGeom>
            <a:solidFill>
              <a:srgbClr val="C8B3DF">
                <a:alpha val="44706"/>
              </a:srgbClr>
            </a:solidFill>
            <a:ln w="95250" cap="rnd">
              <a:solidFill>
                <a:srgbClr val="3B2C5D">
                  <a:alpha val="44706"/>
                </a:srgbClr>
              </a:solidFill>
              <a:prstDash val="lgDash"/>
              <a:round/>
            </a:ln>
          </p:spPr>
        </p:sp>
        <p:sp>
          <p:nvSpPr>
            <p:cNvPr name="TextBox 8" id="8"/>
            <p:cNvSpPr txBox="true"/>
            <p:nvPr/>
          </p:nvSpPr>
          <p:spPr>
            <a:xfrm>
              <a:off x="0" y="-38100"/>
              <a:ext cx="2495438" cy="738173"/>
            </a:xfrm>
            <a:prstGeom prst="rect">
              <a:avLst/>
            </a:prstGeom>
          </p:spPr>
          <p:txBody>
            <a:bodyPr anchor="ctr" rtlCol="false" tIns="50800" lIns="50800" bIns="50800" rIns="50800"/>
            <a:lstStyle/>
            <a:p>
              <a:pPr algn="ctr">
                <a:lnSpc>
                  <a:spcPts val="2659"/>
                </a:lnSpc>
                <a:spcBef>
                  <a:spcPct val="0"/>
                </a:spcBef>
              </a:pPr>
            </a:p>
          </p:txBody>
        </p:sp>
      </p:grpSp>
      <p:sp>
        <p:nvSpPr>
          <p:cNvPr name="AutoShape 9" id="9"/>
          <p:cNvSpPr/>
          <p:nvPr/>
        </p:nvSpPr>
        <p:spPr>
          <a:xfrm flipH="true">
            <a:off x="10468418" y="4591322"/>
            <a:ext cx="4147939" cy="0"/>
          </a:xfrm>
          <a:prstGeom prst="line">
            <a:avLst/>
          </a:prstGeom>
          <a:ln cap="flat" w="38100">
            <a:solidFill>
              <a:srgbClr val="3B2C5D"/>
            </a:solidFill>
            <a:prstDash val="solid"/>
            <a:headEnd type="none" len="sm" w="sm"/>
            <a:tailEnd type="oval" len="lg" w="lg"/>
          </a:ln>
        </p:spPr>
      </p:sp>
      <p:sp>
        <p:nvSpPr>
          <p:cNvPr name="Freeform 10" id="10"/>
          <p:cNvSpPr/>
          <p:nvPr/>
        </p:nvSpPr>
        <p:spPr>
          <a:xfrm flipH="false" flipV="false" rot="-94855">
            <a:off x="15240106" y="5096063"/>
            <a:ext cx="3373267" cy="4751080"/>
          </a:xfrm>
          <a:custGeom>
            <a:avLst/>
            <a:gdLst/>
            <a:ahLst/>
            <a:cxnLst/>
            <a:rect r="r" b="b" t="t" l="l"/>
            <a:pathLst>
              <a:path h="4751080" w="3373267">
                <a:moveTo>
                  <a:pt x="0" y="0"/>
                </a:moveTo>
                <a:lnTo>
                  <a:pt x="3373267" y="0"/>
                </a:lnTo>
                <a:lnTo>
                  <a:pt x="3373267" y="4751080"/>
                </a:lnTo>
                <a:lnTo>
                  <a:pt x="0" y="47510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7753711" y="789150"/>
            <a:ext cx="9814775" cy="2653302"/>
            <a:chOff x="0" y="0"/>
            <a:chExt cx="2584961" cy="698812"/>
          </a:xfrm>
        </p:grpSpPr>
        <p:sp>
          <p:nvSpPr>
            <p:cNvPr name="Freeform 12" id="12"/>
            <p:cNvSpPr/>
            <p:nvPr/>
          </p:nvSpPr>
          <p:spPr>
            <a:xfrm flipH="false" flipV="false" rot="0">
              <a:off x="0" y="0"/>
              <a:ext cx="2584961" cy="698812"/>
            </a:xfrm>
            <a:custGeom>
              <a:avLst/>
              <a:gdLst/>
              <a:ahLst/>
              <a:cxnLst/>
              <a:rect r="r" b="b" t="t" l="l"/>
              <a:pathLst>
                <a:path h="698812" w="2584961">
                  <a:moveTo>
                    <a:pt x="40229" y="0"/>
                  </a:moveTo>
                  <a:lnTo>
                    <a:pt x="2544732" y="0"/>
                  </a:lnTo>
                  <a:cubicBezTo>
                    <a:pt x="2555402" y="0"/>
                    <a:pt x="2565634" y="4238"/>
                    <a:pt x="2573178" y="11783"/>
                  </a:cubicBezTo>
                  <a:cubicBezTo>
                    <a:pt x="2580723" y="19327"/>
                    <a:pt x="2584961" y="29560"/>
                    <a:pt x="2584961" y="40229"/>
                  </a:cubicBezTo>
                  <a:lnTo>
                    <a:pt x="2584961" y="658583"/>
                  </a:lnTo>
                  <a:cubicBezTo>
                    <a:pt x="2584961" y="669253"/>
                    <a:pt x="2580723" y="679485"/>
                    <a:pt x="2573178" y="687029"/>
                  </a:cubicBezTo>
                  <a:cubicBezTo>
                    <a:pt x="2565634" y="694574"/>
                    <a:pt x="2555402" y="698812"/>
                    <a:pt x="2544732" y="698812"/>
                  </a:cubicBezTo>
                  <a:lnTo>
                    <a:pt x="40229" y="698812"/>
                  </a:lnTo>
                  <a:cubicBezTo>
                    <a:pt x="29560" y="698812"/>
                    <a:pt x="19327" y="694574"/>
                    <a:pt x="11783" y="687029"/>
                  </a:cubicBezTo>
                  <a:cubicBezTo>
                    <a:pt x="4238" y="679485"/>
                    <a:pt x="0" y="669253"/>
                    <a:pt x="0" y="658583"/>
                  </a:cubicBezTo>
                  <a:lnTo>
                    <a:pt x="0" y="40229"/>
                  </a:lnTo>
                  <a:cubicBezTo>
                    <a:pt x="0" y="29560"/>
                    <a:pt x="4238" y="19327"/>
                    <a:pt x="11783" y="11783"/>
                  </a:cubicBezTo>
                  <a:cubicBezTo>
                    <a:pt x="19327" y="4238"/>
                    <a:pt x="29560" y="0"/>
                    <a:pt x="40229" y="0"/>
                  </a:cubicBezTo>
                  <a:close/>
                </a:path>
              </a:pathLst>
            </a:custGeom>
            <a:solidFill>
              <a:srgbClr val="C8B3DF">
                <a:alpha val="44706"/>
              </a:srgbClr>
            </a:solidFill>
            <a:ln w="95250" cap="rnd">
              <a:solidFill>
                <a:srgbClr val="3B2C5D">
                  <a:alpha val="44706"/>
                </a:srgbClr>
              </a:solidFill>
              <a:prstDash val="lgDash"/>
              <a:round/>
            </a:ln>
          </p:spPr>
        </p:sp>
        <p:sp>
          <p:nvSpPr>
            <p:cNvPr name="TextBox 13" id="13"/>
            <p:cNvSpPr txBox="true"/>
            <p:nvPr/>
          </p:nvSpPr>
          <p:spPr>
            <a:xfrm>
              <a:off x="0" y="-38100"/>
              <a:ext cx="2584961" cy="736912"/>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3256167" y="6919692"/>
            <a:ext cx="12363763" cy="2750491"/>
            <a:chOff x="0" y="0"/>
            <a:chExt cx="3256300" cy="724409"/>
          </a:xfrm>
        </p:grpSpPr>
        <p:sp>
          <p:nvSpPr>
            <p:cNvPr name="Freeform 15" id="15"/>
            <p:cNvSpPr/>
            <p:nvPr/>
          </p:nvSpPr>
          <p:spPr>
            <a:xfrm flipH="false" flipV="false" rot="0">
              <a:off x="0" y="0"/>
              <a:ext cx="3256300" cy="724409"/>
            </a:xfrm>
            <a:custGeom>
              <a:avLst/>
              <a:gdLst/>
              <a:ahLst/>
              <a:cxnLst/>
              <a:rect r="r" b="b" t="t" l="l"/>
              <a:pathLst>
                <a:path h="724409" w="3256300">
                  <a:moveTo>
                    <a:pt x="31935" y="0"/>
                  </a:moveTo>
                  <a:lnTo>
                    <a:pt x="3224365" y="0"/>
                  </a:lnTo>
                  <a:cubicBezTo>
                    <a:pt x="3242002" y="0"/>
                    <a:pt x="3256300" y="14298"/>
                    <a:pt x="3256300" y="31935"/>
                  </a:cubicBezTo>
                  <a:lnTo>
                    <a:pt x="3256300" y="692474"/>
                  </a:lnTo>
                  <a:cubicBezTo>
                    <a:pt x="3256300" y="700944"/>
                    <a:pt x="3252935" y="709067"/>
                    <a:pt x="3246946" y="715056"/>
                  </a:cubicBezTo>
                  <a:cubicBezTo>
                    <a:pt x="3240957" y="721045"/>
                    <a:pt x="3232834" y="724409"/>
                    <a:pt x="3224365" y="724409"/>
                  </a:cubicBezTo>
                  <a:lnTo>
                    <a:pt x="31935" y="724409"/>
                  </a:lnTo>
                  <a:cubicBezTo>
                    <a:pt x="14298" y="724409"/>
                    <a:pt x="0" y="710111"/>
                    <a:pt x="0" y="692474"/>
                  </a:cubicBezTo>
                  <a:lnTo>
                    <a:pt x="0" y="31935"/>
                  </a:lnTo>
                  <a:cubicBezTo>
                    <a:pt x="0" y="23465"/>
                    <a:pt x="3365" y="15343"/>
                    <a:pt x="9354" y="9354"/>
                  </a:cubicBezTo>
                  <a:cubicBezTo>
                    <a:pt x="15343" y="3365"/>
                    <a:pt x="23465" y="0"/>
                    <a:pt x="31935" y="0"/>
                  </a:cubicBezTo>
                  <a:close/>
                </a:path>
              </a:pathLst>
            </a:custGeom>
            <a:solidFill>
              <a:srgbClr val="C8B3DF">
                <a:alpha val="44706"/>
              </a:srgbClr>
            </a:solidFill>
            <a:ln w="95250" cap="rnd">
              <a:solidFill>
                <a:srgbClr val="3B2C5D">
                  <a:alpha val="44706"/>
                </a:srgbClr>
              </a:solidFill>
              <a:prstDash val="lgDash"/>
              <a:round/>
            </a:ln>
          </p:spPr>
        </p:sp>
        <p:sp>
          <p:nvSpPr>
            <p:cNvPr name="TextBox 16" id="16"/>
            <p:cNvSpPr txBox="true"/>
            <p:nvPr/>
          </p:nvSpPr>
          <p:spPr>
            <a:xfrm>
              <a:off x="0" y="-38100"/>
              <a:ext cx="3256300" cy="762509"/>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8396037" y="4798679"/>
            <a:ext cx="8742266" cy="1254188"/>
          </a:xfrm>
          <a:prstGeom prst="rect">
            <a:avLst/>
          </a:prstGeom>
        </p:spPr>
        <p:txBody>
          <a:bodyPr anchor="t" rtlCol="false" tIns="0" lIns="0" bIns="0" rIns="0">
            <a:spAutoFit/>
          </a:bodyPr>
          <a:lstStyle/>
          <a:p>
            <a:pPr algn="l" marL="429642" indent="-214821" lvl="1">
              <a:lnSpc>
                <a:spcPts val="2487"/>
              </a:lnSpc>
              <a:buFont typeface="Arial"/>
              <a:buChar char="•"/>
            </a:pPr>
            <a:r>
              <a:rPr lang="en-US" sz="1990">
                <a:solidFill>
                  <a:srgbClr val="3B2C5D"/>
                </a:solidFill>
                <a:latin typeface="ABeeZee"/>
                <a:ea typeface="ABeeZee"/>
                <a:cs typeface="ABeeZee"/>
                <a:sym typeface="ABeeZee"/>
              </a:rPr>
              <a:t>Transcriptomics → analisis ekspresi gen skala besar</a:t>
            </a:r>
          </a:p>
          <a:p>
            <a:pPr algn="l" marL="429642" indent="-214821" lvl="1">
              <a:lnSpc>
                <a:spcPts val="2487"/>
              </a:lnSpc>
              <a:buFont typeface="Arial"/>
              <a:buChar char="•"/>
            </a:pPr>
            <a:r>
              <a:rPr lang="en-US" sz="1990">
                <a:solidFill>
                  <a:srgbClr val="3B2C5D"/>
                </a:solidFill>
                <a:latin typeface="ABeeZee"/>
                <a:ea typeface="ABeeZee"/>
                <a:cs typeface="ABeeZee"/>
                <a:sym typeface="ABeeZee"/>
              </a:rPr>
              <a:t>DEG Analysis → identifikasi gen dengan perubahan ekspresi signifikan antara jaringan normal vs. tumor</a:t>
            </a:r>
          </a:p>
          <a:p>
            <a:pPr algn="l" marL="429642" indent="-214821" lvl="1">
              <a:lnSpc>
                <a:spcPts val="2487"/>
              </a:lnSpc>
              <a:buFont typeface="Arial"/>
              <a:buChar char="•"/>
            </a:pPr>
            <a:r>
              <a:rPr lang="en-US" sz="1990">
                <a:solidFill>
                  <a:srgbClr val="3B2C5D"/>
                </a:solidFill>
                <a:latin typeface="ABeeZee"/>
                <a:ea typeface="ABeeZee"/>
                <a:cs typeface="ABeeZee"/>
                <a:sym typeface="ABeeZee"/>
              </a:rPr>
              <a:t>DEG berpotensi sebagai kandidat biomarker atau target terapi</a:t>
            </a:r>
          </a:p>
        </p:txBody>
      </p:sp>
      <p:sp>
        <p:nvSpPr>
          <p:cNvPr name="TextBox 18" id="18"/>
          <p:cNvSpPr txBox="true"/>
          <p:nvPr/>
        </p:nvSpPr>
        <p:spPr>
          <a:xfrm rot="0">
            <a:off x="8313161" y="1843296"/>
            <a:ext cx="8695874" cy="1254188"/>
          </a:xfrm>
          <a:prstGeom prst="rect">
            <a:avLst/>
          </a:prstGeom>
        </p:spPr>
        <p:txBody>
          <a:bodyPr anchor="t" rtlCol="false" tIns="0" lIns="0" bIns="0" rIns="0">
            <a:spAutoFit/>
          </a:bodyPr>
          <a:lstStyle/>
          <a:p>
            <a:pPr algn="l" marL="429642" indent="-214821" lvl="1">
              <a:lnSpc>
                <a:spcPts val="2487"/>
              </a:lnSpc>
              <a:buFont typeface="Arial"/>
              <a:buChar char="•"/>
            </a:pPr>
            <a:r>
              <a:rPr lang="en-US" sz="1990">
                <a:solidFill>
                  <a:srgbClr val="3B2C5D"/>
                </a:solidFill>
                <a:latin typeface="ABeeZee"/>
                <a:ea typeface="ABeeZee"/>
                <a:cs typeface="ABeeZee"/>
                <a:sym typeface="ABeeZee"/>
              </a:rPr>
              <a:t>GO (Gene Ontology) → fungsi biologis gen yang berubah</a:t>
            </a:r>
          </a:p>
          <a:p>
            <a:pPr algn="l" marL="429642" indent="-214821" lvl="1">
              <a:lnSpc>
                <a:spcPts val="2487"/>
              </a:lnSpc>
              <a:buFont typeface="Arial"/>
              <a:buChar char="•"/>
            </a:pPr>
            <a:r>
              <a:rPr lang="en-US" sz="1990">
                <a:solidFill>
                  <a:srgbClr val="3B2C5D"/>
                </a:solidFill>
                <a:latin typeface="ABeeZee"/>
                <a:ea typeface="ABeeZee"/>
                <a:cs typeface="ABeeZee"/>
                <a:sym typeface="ABeeZee"/>
              </a:rPr>
              <a:t>KEGG Pathway → jalur molekuler yang terlibat dalam patogenesis</a:t>
            </a:r>
          </a:p>
          <a:p>
            <a:pPr algn="l" marL="429642" indent="-214821" lvl="1">
              <a:lnSpc>
                <a:spcPts val="2487"/>
              </a:lnSpc>
              <a:buFont typeface="Arial"/>
              <a:buChar char="•"/>
            </a:pPr>
            <a:r>
              <a:rPr lang="en-US" sz="1990">
                <a:solidFill>
                  <a:srgbClr val="3B2C5D"/>
                </a:solidFill>
                <a:latin typeface="ABeeZee"/>
                <a:ea typeface="ABeeZee"/>
                <a:cs typeface="ABeeZee"/>
                <a:sym typeface="ABeeZee"/>
              </a:rPr>
              <a:t>Keduanya memberikan interpretasi mekanisme di balik perubahan ekspresi gen</a:t>
            </a:r>
          </a:p>
        </p:txBody>
      </p:sp>
      <p:sp>
        <p:nvSpPr>
          <p:cNvPr name="AutoShape 19" id="19"/>
          <p:cNvSpPr/>
          <p:nvPr/>
        </p:nvSpPr>
        <p:spPr>
          <a:xfrm flipV="true">
            <a:off x="8606005" y="1652753"/>
            <a:ext cx="7315110" cy="2312"/>
          </a:xfrm>
          <a:prstGeom prst="line">
            <a:avLst/>
          </a:prstGeom>
          <a:ln cap="flat" w="38100">
            <a:solidFill>
              <a:srgbClr val="3B2C5D"/>
            </a:solidFill>
            <a:prstDash val="solid"/>
            <a:headEnd type="none" len="sm" w="sm"/>
            <a:tailEnd type="oval" len="lg" w="lg"/>
          </a:ln>
        </p:spPr>
      </p:sp>
      <p:sp>
        <p:nvSpPr>
          <p:cNvPr name="AutoShape 20" id="20"/>
          <p:cNvSpPr/>
          <p:nvPr/>
        </p:nvSpPr>
        <p:spPr>
          <a:xfrm flipV="true">
            <a:off x="3909973" y="7871063"/>
            <a:ext cx="5722177" cy="14287"/>
          </a:xfrm>
          <a:prstGeom prst="line">
            <a:avLst/>
          </a:prstGeom>
          <a:ln cap="flat" w="38100">
            <a:solidFill>
              <a:srgbClr val="3B2C5D"/>
            </a:solidFill>
            <a:prstDash val="solid"/>
            <a:headEnd type="none" len="sm" w="sm"/>
            <a:tailEnd type="oval" len="lg" w="lg"/>
          </a:ln>
        </p:spPr>
      </p:sp>
      <p:sp>
        <p:nvSpPr>
          <p:cNvPr name="Freeform 21" id="21"/>
          <p:cNvSpPr/>
          <p:nvPr/>
        </p:nvSpPr>
        <p:spPr>
          <a:xfrm flipH="false" flipV="false" rot="0">
            <a:off x="5089906" y="490891"/>
            <a:ext cx="1352214" cy="1796420"/>
          </a:xfrm>
          <a:custGeom>
            <a:avLst/>
            <a:gdLst/>
            <a:ahLst/>
            <a:cxnLst/>
            <a:rect r="r" b="b" t="t" l="l"/>
            <a:pathLst>
              <a:path h="1796420" w="1352214">
                <a:moveTo>
                  <a:pt x="0" y="0"/>
                </a:moveTo>
                <a:lnTo>
                  <a:pt x="1352214" y="0"/>
                </a:lnTo>
                <a:lnTo>
                  <a:pt x="1352214" y="1796420"/>
                </a:lnTo>
                <a:lnTo>
                  <a:pt x="0" y="17964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2" id="22"/>
          <p:cNvSpPr/>
          <p:nvPr/>
        </p:nvSpPr>
        <p:spPr>
          <a:xfrm flipH="true" flipV="false" rot="858149">
            <a:off x="6589330" y="4260060"/>
            <a:ext cx="1466936" cy="713298"/>
          </a:xfrm>
          <a:custGeom>
            <a:avLst/>
            <a:gdLst/>
            <a:ahLst/>
            <a:cxnLst/>
            <a:rect r="r" b="b" t="t" l="l"/>
            <a:pathLst>
              <a:path h="713298" w="1466936">
                <a:moveTo>
                  <a:pt x="1466936" y="0"/>
                </a:moveTo>
                <a:lnTo>
                  <a:pt x="0" y="0"/>
                </a:lnTo>
                <a:lnTo>
                  <a:pt x="0" y="713297"/>
                </a:lnTo>
                <a:lnTo>
                  <a:pt x="1466936" y="713297"/>
                </a:lnTo>
                <a:lnTo>
                  <a:pt x="1466936"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true" flipV="false" rot="-2699999">
            <a:off x="6491862" y="2293637"/>
            <a:ext cx="1396243" cy="678923"/>
          </a:xfrm>
          <a:custGeom>
            <a:avLst/>
            <a:gdLst/>
            <a:ahLst/>
            <a:cxnLst/>
            <a:rect r="r" b="b" t="t" l="l"/>
            <a:pathLst>
              <a:path h="678923" w="1396243">
                <a:moveTo>
                  <a:pt x="1396243" y="0"/>
                </a:moveTo>
                <a:lnTo>
                  <a:pt x="0" y="0"/>
                </a:lnTo>
                <a:lnTo>
                  <a:pt x="0" y="678923"/>
                </a:lnTo>
                <a:lnTo>
                  <a:pt x="1396243" y="678923"/>
                </a:lnTo>
                <a:lnTo>
                  <a:pt x="139624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4" id="24"/>
          <p:cNvSpPr txBox="true"/>
          <p:nvPr/>
        </p:nvSpPr>
        <p:spPr>
          <a:xfrm rot="0">
            <a:off x="8936821" y="1077824"/>
            <a:ext cx="7708097" cy="555879"/>
          </a:xfrm>
          <a:prstGeom prst="rect">
            <a:avLst/>
          </a:prstGeom>
        </p:spPr>
        <p:txBody>
          <a:bodyPr anchor="t" rtlCol="false" tIns="0" lIns="0" bIns="0" rIns="0">
            <a:spAutoFit/>
          </a:bodyPr>
          <a:lstStyle/>
          <a:p>
            <a:pPr algn="ctr">
              <a:lnSpc>
                <a:spcPts val="4536"/>
              </a:lnSpc>
            </a:pPr>
            <a:r>
              <a:rPr lang="en-US" sz="3240">
                <a:solidFill>
                  <a:srgbClr val="3B2C5D"/>
                </a:solidFill>
                <a:latin typeface="Zen Dots"/>
                <a:ea typeface="Zen Dots"/>
                <a:cs typeface="Zen Dots"/>
                <a:sym typeface="Zen Dots"/>
              </a:rPr>
              <a:t>ANALISIS PATHWAY</a:t>
            </a:r>
          </a:p>
        </p:txBody>
      </p:sp>
      <p:sp>
        <p:nvSpPr>
          <p:cNvPr name="TextBox 25" id="25"/>
          <p:cNvSpPr txBox="true"/>
          <p:nvPr/>
        </p:nvSpPr>
        <p:spPr>
          <a:xfrm rot="0">
            <a:off x="10727960" y="4035443"/>
            <a:ext cx="4125818" cy="555879"/>
          </a:xfrm>
          <a:prstGeom prst="rect">
            <a:avLst/>
          </a:prstGeom>
        </p:spPr>
        <p:txBody>
          <a:bodyPr anchor="t" rtlCol="false" tIns="0" lIns="0" bIns="0" rIns="0">
            <a:spAutoFit/>
          </a:bodyPr>
          <a:lstStyle/>
          <a:p>
            <a:pPr algn="just">
              <a:lnSpc>
                <a:spcPts val="4536"/>
              </a:lnSpc>
            </a:pPr>
            <a:r>
              <a:rPr lang="en-US" sz="3240">
                <a:solidFill>
                  <a:srgbClr val="3B2C5D"/>
                </a:solidFill>
                <a:latin typeface="Zen Dots"/>
                <a:ea typeface="Zen Dots"/>
                <a:cs typeface="Zen Dots"/>
                <a:sym typeface="Zen Dots"/>
              </a:rPr>
              <a:t>PENDEKATAN</a:t>
            </a:r>
          </a:p>
        </p:txBody>
      </p:sp>
      <p:sp>
        <p:nvSpPr>
          <p:cNvPr name="TextBox 26" id="26"/>
          <p:cNvSpPr txBox="true"/>
          <p:nvPr/>
        </p:nvSpPr>
        <p:spPr>
          <a:xfrm rot="0">
            <a:off x="1810206" y="1088526"/>
            <a:ext cx="2669697" cy="1127379"/>
          </a:xfrm>
          <a:prstGeom prst="rect">
            <a:avLst/>
          </a:prstGeom>
        </p:spPr>
        <p:txBody>
          <a:bodyPr anchor="t" rtlCol="false" tIns="0" lIns="0" bIns="0" rIns="0">
            <a:spAutoFit/>
          </a:bodyPr>
          <a:lstStyle/>
          <a:p>
            <a:pPr algn="l">
              <a:lnSpc>
                <a:spcPts val="4536"/>
              </a:lnSpc>
            </a:pPr>
            <a:r>
              <a:rPr lang="en-US" sz="3240">
                <a:solidFill>
                  <a:srgbClr val="3B2C5D"/>
                </a:solidFill>
                <a:latin typeface="Zen Dots"/>
                <a:ea typeface="Zen Dots"/>
                <a:cs typeface="Zen Dots"/>
                <a:sym typeface="Zen Dots"/>
              </a:rPr>
              <a:t>MASALAH UTAMA</a:t>
            </a:r>
          </a:p>
        </p:txBody>
      </p:sp>
      <p:sp>
        <p:nvSpPr>
          <p:cNvPr name="TextBox 27" id="27"/>
          <p:cNvSpPr txBox="true"/>
          <p:nvPr/>
        </p:nvSpPr>
        <p:spPr>
          <a:xfrm rot="0">
            <a:off x="1676025" y="2615963"/>
            <a:ext cx="4766095" cy="3454463"/>
          </a:xfrm>
          <a:prstGeom prst="rect">
            <a:avLst/>
          </a:prstGeom>
        </p:spPr>
        <p:txBody>
          <a:bodyPr anchor="t" rtlCol="false" tIns="0" lIns="0" bIns="0" rIns="0">
            <a:spAutoFit/>
          </a:bodyPr>
          <a:lstStyle/>
          <a:p>
            <a:pPr algn="l" marL="429642" indent="-214821" lvl="1">
              <a:lnSpc>
                <a:spcPts val="2487"/>
              </a:lnSpc>
              <a:buFont typeface="Arial"/>
              <a:buChar char="•"/>
            </a:pPr>
            <a:r>
              <a:rPr lang="en-US" sz="1990">
                <a:solidFill>
                  <a:srgbClr val="3B2C5D"/>
                </a:solidFill>
                <a:latin typeface="ABeeZee"/>
                <a:ea typeface="ABeeZee"/>
                <a:cs typeface="ABeeZee"/>
                <a:sym typeface="ABeeZee"/>
              </a:rPr>
              <a:t>Kanker pankreas = salah satu kanker dengan mortalitas tertinggi</a:t>
            </a:r>
          </a:p>
          <a:p>
            <a:pPr algn="l" marL="429642" indent="-214821" lvl="1">
              <a:lnSpc>
                <a:spcPts val="2487"/>
              </a:lnSpc>
              <a:buFont typeface="Arial"/>
              <a:buChar char="•"/>
            </a:pPr>
            <a:r>
              <a:rPr lang="en-US" sz="1990">
                <a:solidFill>
                  <a:srgbClr val="3B2C5D"/>
                </a:solidFill>
                <a:latin typeface="ABeeZee"/>
                <a:ea typeface="ABeeZee"/>
                <a:cs typeface="ABeeZee"/>
                <a:sym typeface="ABeeZee"/>
              </a:rPr>
              <a:t>Sering terdiagnosis pada stadium lanjut + sifat agresif</a:t>
            </a:r>
          </a:p>
          <a:p>
            <a:pPr algn="l" marL="429642" indent="-214821" lvl="1">
              <a:lnSpc>
                <a:spcPts val="2487"/>
              </a:lnSpc>
              <a:buFont typeface="Arial"/>
              <a:buChar char="•"/>
            </a:pPr>
            <a:r>
              <a:rPr lang="en-US" sz="1990">
                <a:solidFill>
                  <a:srgbClr val="3B2C5D"/>
                </a:solidFill>
                <a:latin typeface="ABeeZee"/>
                <a:ea typeface="ABeeZee"/>
                <a:cs typeface="ABeeZee"/>
                <a:sym typeface="ABeeZee"/>
              </a:rPr>
              <a:t>Mekanisme molekuler tumorigenesis belum sepenuhnya dipahami</a:t>
            </a:r>
          </a:p>
          <a:p>
            <a:pPr algn="l">
              <a:lnSpc>
                <a:spcPts val="2487"/>
              </a:lnSpc>
            </a:pPr>
          </a:p>
          <a:p>
            <a:pPr algn="l">
              <a:lnSpc>
                <a:spcPts val="2487"/>
              </a:lnSpc>
            </a:pPr>
            <a:r>
              <a:rPr lang="en-US" sz="1990">
                <a:solidFill>
                  <a:srgbClr val="3B2C5D"/>
                </a:solidFill>
                <a:latin typeface="ABeeZee"/>
                <a:ea typeface="ABeeZee"/>
                <a:cs typeface="ABeeZee"/>
                <a:sym typeface="ABeeZee"/>
              </a:rPr>
              <a:t>→ Butuh identifikasi perubahan molekuler untuk biomarker &amp; terapi baru</a:t>
            </a:r>
          </a:p>
        </p:txBody>
      </p:sp>
      <p:sp>
        <p:nvSpPr>
          <p:cNvPr name="TextBox 28" id="28"/>
          <p:cNvSpPr txBox="true"/>
          <p:nvPr/>
        </p:nvSpPr>
        <p:spPr>
          <a:xfrm rot="0">
            <a:off x="3828688" y="7259713"/>
            <a:ext cx="5694543" cy="555879"/>
          </a:xfrm>
          <a:prstGeom prst="rect">
            <a:avLst/>
          </a:prstGeom>
        </p:spPr>
        <p:txBody>
          <a:bodyPr anchor="t" rtlCol="false" tIns="0" lIns="0" bIns="0" rIns="0">
            <a:spAutoFit/>
          </a:bodyPr>
          <a:lstStyle/>
          <a:p>
            <a:pPr algn="r">
              <a:lnSpc>
                <a:spcPts val="4536"/>
              </a:lnSpc>
            </a:pPr>
            <a:r>
              <a:rPr lang="en-US" sz="3240">
                <a:solidFill>
                  <a:srgbClr val="3B2C5D"/>
                </a:solidFill>
                <a:latin typeface="Zen Dots"/>
                <a:ea typeface="Zen Dots"/>
                <a:cs typeface="Zen Dots"/>
                <a:sym typeface="Zen Dots"/>
              </a:rPr>
              <a:t>TUJUAN PENELITIAN</a:t>
            </a:r>
          </a:p>
        </p:txBody>
      </p:sp>
      <p:sp>
        <p:nvSpPr>
          <p:cNvPr name="TextBox 29" id="29"/>
          <p:cNvSpPr txBox="true"/>
          <p:nvPr/>
        </p:nvSpPr>
        <p:spPr>
          <a:xfrm rot="0">
            <a:off x="3535222" y="8066326"/>
            <a:ext cx="11794052" cy="1254188"/>
          </a:xfrm>
          <a:prstGeom prst="rect">
            <a:avLst/>
          </a:prstGeom>
        </p:spPr>
        <p:txBody>
          <a:bodyPr anchor="t" rtlCol="false" tIns="0" lIns="0" bIns="0" rIns="0">
            <a:spAutoFit/>
          </a:bodyPr>
          <a:lstStyle/>
          <a:p>
            <a:pPr algn="l" marL="429642" indent="-214821" lvl="1">
              <a:lnSpc>
                <a:spcPts val="2487"/>
              </a:lnSpc>
              <a:buFont typeface="Arial"/>
              <a:buChar char="•"/>
            </a:pPr>
            <a:r>
              <a:rPr lang="en-US" sz="1990">
                <a:solidFill>
                  <a:srgbClr val="3B2C5D"/>
                </a:solidFill>
                <a:latin typeface="ABeeZee"/>
                <a:ea typeface="ABeeZee"/>
                <a:cs typeface="ABeeZee"/>
                <a:sym typeface="ABeeZee"/>
              </a:rPr>
              <a:t>Mengidentifikasi gen yang diekspresikan secara diferensial antara jaringan tumor dan normal pada kanker pankreas menggunakan data set GSE28735 dan </a:t>
            </a:r>
          </a:p>
          <a:p>
            <a:pPr algn="l" marL="429642" indent="-214821" lvl="1">
              <a:lnSpc>
                <a:spcPts val="2487"/>
              </a:lnSpc>
              <a:buFont typeface="Arial"/>
              <a:buChar char="•"/>
            </a:pPr>
            <a:r>
              <a:rPr lang="en-US" sz="1990">
                <a:solidFill>
                  <a:srgbClr val="3B2C5D"/>
                </a:solidFill>
                <a:latin typeface="ABeeZee"/>
                <a:ea typeface="ABeeZee"/>
                <a:cs typeface="ABeeZee"/>
                <a:sym typeface="ABeeZee"/>
              </a:rPr>
              <a:t>Menganalisis pathway biologis dengan GO dan KEGG enrichment analysis, guna mengungkap mekanisme molekular yang berperan dalam patogenesis kanker pankreas. </a:t>
            </a:r>
          </a:p>
        </p:txBody>
      </p:sp>
      <p:sp>
        <p:nvSpPr>
          <p:cNvPr name="Freeform 30" id="30"/>
          <p:cNvSpPr/>
          <p:nvPr/>
        </p:nvSpPr>
        <p:spPr>
          <a:xfrm flipH="false" flipV="false" rot="0">
            <a:off x="-1477705" y="7011363"/>
            <a:ext cx="4424713" cy="4424713"/>
          </a:xfrm>
          <a:custGeom>
            <a:avLst/>
            <a:gdLst/>
            <a:ahLst/>
            <a:cxnLst/>
            <a:rect r="r" b="b" t="t" l="l"/>
            <a:pathLst>
              <a:path h="4424713" w="4424713">
                <a:moveTo>
                  <a:pt x="0" y="0"/>
                </a:moveTo>
                <a:lnTo>
                  <a:pt x="4424712" y="0"/>
                </a:lnTo>
                <a:lnTo>
                  <a:pt x="4424712" y="4424713"/>
                </a:lnTo>
                <a:lnTo>
                  <a:pt x="0" y="4424713"/>
                </a:lnTo>
                <a:lnTo>
                  <a:pt x="0" y="0"/>
                </a:lnTo>
                <a:close/>
              </a:path>
            </a:pathLst>
          </a:custGeom>
          <a:blipFill>
            <a:blip r:embed="rId8"/>
            <a:stretch>
              <a:fillRect l="0" t="0" r="0" b="0"/>
            </a:stretch>
          </a:blipFill>
        </p:spPr>
      </p:sp>
      <p:sp>
        <p:nvSpPr>
          <p:cNvPr name="Freeform 31" id="31"/>
          <p:cNvSpPr/>
          <p:nvPr/>
        </p:nvSpPr>
        <p:spPr>
          <a:xfrm flipH="false" flipV="true" rot="5400000">
            <a:off x="-39404" y="-448080"/>
            <a:ext cx="3514920" cy="4114800"/>
          </a:xfrm>
          <a:custGeom>
            <a:avLst/>
            <a:gdLst/>
            <a:ahLst/>
            <a:cxnLst/>
            <a:rect r="r" b="b" t="t" l="l"/>
            <a:pathLst>
              <a:path h="4114800" w="3514920">
                <a:moveTo>
                  <a:pt x="0" y="4114800"/>
                </a:moveTo>
                <a:lnTo>
                  <a:pt x="3514920" y="4114800"/>
                </a:lnTo>
                <a:lnTo>
                  <a:pt x="3514920" y="0"/>
                </a:lnTo>
                <a:lnTo>
                  <a:pt x="0" y="0"/>
                </a:lnTo>
                <a:lnTo>
                  <a:pt x="0" y="4114800"/>
                </a:lnTo>
                <a:close/>
              </a:path>
            </a:pathLst>
          </a:custGeom>
          <a:blipFill>
            <a:blip r:embed="rId9">
              <a:alphaModFix amt="74000"/>
              <a:extLst>
                <a:ext uri="{96DAC541-7B7A-43D3-8B79-37D633B846F1}">
                  <asvg:svgBlip xmlns:asvg="http://schemas.microsoft.com/office/drawing/2016/SVG/main" r:embed="rId10"/>
                </a:ext>
              </a:extLst>
            </a:blip>
            <a:stretch>
              <a:fillRect l="0" t="0" r="0" b="0"/>
            </a:stretch>
          </a:blipFill>
        </p:spPr>
      </p:sp>
      <p:sp>
        <p:nvSpPr>
          <p:cNvPr name="Freeform 32" id="32"/>
          <p:cNvSpPr/>
          <p:nvPr/>
        </p:nvSpPr>
        <p:spPr>
          <a:xfrm flipH="true" flipV="false" rot="0">
            <a:off x="15121929" y="8294937"/>
            <a:ext cx="5326813" cy="2558823"/>
          </a:xfrm>
          <a:custGeom>
            <a:avLst/>
            <a:gdLst/>
            <a:ahLst/>
            <a:cxnLst/>
            <a:rect r="r" b="b" t="t" l="l"/>
            <a:pathLst>
              <a:path h="2558823" w="5326813">
                <a:moveTo>
                  <a:pt x="5326813" y="0"/>
                </a:moveTo>
                <a:lnTo>
                  <a:pt x="0" y="0"/>
                </a:lnTo>
                <a:lnTo>
                  <a:pt x="0" y="2558823"/>
                </a:lnTo>
                <a:lnTo>
                  <a:pt x="5326813" y="2558823"/>
                </a:lnTo>
                <a:lnTo>
                  <a:pt x="5326813" y="0"/>
                </a:lnTo>
                <a:close/>
              </a:path>
            </a:pathLst>
          </a:custGeom>
          <a:blipFill>
            <a:blip r:embed="rId11">
              <a:alphaModFix amt="44999"/>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4625540" y="-147540"/>
            <a:ext cx="3514920" cy="4114800"/>
          </a:xfrm>
          <a:custGeom>
            <a:avLst/>
            <a:gdLst/>
            <a:ahLst/>
            <a:cxnLst/>
            <a:rect r="r" b="b" t="t" l="l"/>
            <a:pathLst>
              <a:path h="4114800" w="3514920">
                <a:moveTo>
                  <a:pt x="0" y="0"/>
                </a:moveTo>
                <a:lnTo>
                  <a:pt x="3514920" y="0"/>
                </a:lnTo>
                <a:lnTo>
                  <a:pt x="3514920" y="4114800"/>
                </a:lnTo>
                <a:lnTo>
                  <a:pt x="0" y="4114800"/>
                </a:lnTo>
                <a:lnTo>
                  <a:pt x="0" y="0"/>
                </a:lnTo>
                <a:close/>
              </a:path>
            </a:pathLst>
          </a:custGeom>
          <a:blipFill>
            <a:blip r:embed="rId2">
              <a:alphaModFix amt="44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05226" y="2157734"/>
            <a:ext cx="15818143" cy="6871966"/>
            <a:chOff x="0" y="0"/>
            <a:chExt cx="4028067" cy="1749936"/>
          </a:xfrm>
        </p:grpSpPr>
        <p:sp>
          <p:nvSpPr>
            <p:cNvPr name="Freeform 4" id="4"/>
            <p:cNvSpPr/>
            <p:nvPr/>
          </p:nvSpPr>
          <p:spPr>
            <a:xfrm flipH="false" flipV="false" rot="0">
              <a:off x="0" y="0"/>
              <a:ext cx="4028067" cy="1749936"/>
            </a:xfrm>
            <a:custGeom>
              <a:avLst/>
              <a:gdLst/>
              <a:ahLst/>
              <a:cxnLst/>
              <a:rect r="r" b="b" t="t" l="l"/>
              <a:pathLst>
                <a:path h="1749936" w="4028067">
                  <a:moveTo>
                    <a:pt x="24961" y="0"/>
                  </a:moveTo>
                  <a:lnTo>
                    <a:pt x="4003106" y="0"/>
                  </a:lnTo>
                  <a:cubicBezTo>
                    <a:pt x="4009726" y="0"/>
                    <a:pt x="4016075" y="2630"/>
                    <a:pt x="4020757" y="7311"/>
                  </a:cubicBezTo>
                  <a:cubicBezTo>
                    <a:pt x="4025438" y="11992"/>
                    <a:pt x="4028067" y="18341"/>
                    <a:pt x="4028067" y="24961"/>
                  </a:cubicBezTo>
                  <a:lnTo>
                    <a:pt x="4028067" y="1724975"/>
                  </a:lnTo>
                  <a:cubicBezTo>
                    <a:pt x="4028067" y="1731595"/>
                    <a:pt x="4025438" y="1737944"/>
                    <a:pt x="4020757" y="1742625"/>
                  </a:cubicBezTo>
                  <a:cubicBezTo>
                    <a:pt x="4016075" y="1747306"/>
                    <a:pt x="4009726" y="1749936"/>
                    <a:pt x="4003106" y="1749936"/>
                  </a:cubicBezTo>
                  <a:lnTo>
                    <a:pt x="24961" y="1749936"/>
                  </a:lnTo>
                  <a:cubicBezTo>
                    <a:pt x="11175" y="1749936"/>
                    <a:pt x="0" y="1738761"/>
                    <a:pt x="0" y="1724975"/>
                  </a:cubicBezTo>
                  <a:lnTo>
                    <a:pt x="0" y="24961"/>
                  </a:lnTo>
                  <a:cubicBezTo>
                    <a:pt x="0" y="18341"/>
                    <a:pt x="2630" y="11992"/>
                    <a:pt x="7311" y="7311"/>
                  </a:cubicBezTo>
                  <a:cubicBezTo>
                    <a:pt x="11992" y="2630"/>
                    <a:pt x="18341" y="0"/>
                    <a:pt x="24961" y="0"/>
                  </a:cubicBezTo>
                  <a:close/>
                </a:path>
              </a:pathLst>
            </a:custGeom>
            <a:solidFill>
              <a:srgbClr val="FFFFFF"/>
            </a:solidFill>
            <a:ln w="76200" cap="rnd">
              <a:solidFill>
                <a:srgbClr val="A06BB6"/>
              </a:solidFill>
              <a:prstDash val="solid"/>
              <a:round/>
            </a:ln>
          </p:spPr>
        </p:sp>
        <p:sp>
          <p:nvSpPr>
            <p:cNvPr name="TextBox 5" id="5"/>
            <p:cNvSpPr txBox="true"/>
            <p:nvPr/>
          </p:nvSpPr>
          <p:spPr>
            <a:xfrm>
              <a:off x="0" y="-38100"/>
              <a:ext cx="4028067" cy="178803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5400000">
            <a:off x="14473140" y="-299940"/>
            <a:ext cx="3514920" cy="4114800"/>
          </a:xfrm>
          <a:custGeom>
            <a:avLst/>
            <a:gdLst/>
            <a:ahLst/>
            <a:cxnLst/>
            <a:rect r="r" b="b" t="t" l="l"/>
            <a:pathLst>
              <a:path h="4114800" w="3514920">
                <a:moveTo>
                  <a:pt x="0" y="0"/>
                </a:moveTo>
                <a:lnTo>
                  <a:pt x="3514920" y="0"/>
                </a:lnTo>
                <a:lnTo>
                  <a:pt x="3514920" y="4114800"/>
                </a:lnTo>
                <a:lnTo>
                  <a:pt x="0" y="4114800"/>
                </a:lnTo>
                <a:lnTo>
                  <a:pt x="0" y="0"/>
                </a:lnTo>
                <a:close/>
              </a:path>
            </a:pathLst>
          </a:custGeom>
          <a:blipFill>
            <a:blip r:embed="rId2">
              <a:alphaModFix amt="44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3176132">
            <a:off x="-1634707" y="8764925"/>
            <a:ext cx="5326813" cy="2558823"/>
          </a:xfrm>
          <a:custGeom>
            <a:avLst/>
            <a:gdLst/>
            <a:ahLst/>
            <a:cxnLst/>
            <a:rect r="r" b="b" t="t" l="l"/>
            <a:pathLst>
              <a:path h="2558823" w="5326813">
                <a:moveTo>
                  <a:pt x="5326814" y="0"/>
                </a:moveTo>
                <a:lnTo>
                  <a:pt x="0" y="0"/>
                </a:lnTo>
                <a:lnTo>
                  <a:pt x="0" y="2558822"/>
                </a:lnTo>
                <a:lnTo>
                  <a:pt x="5326814" y="2558822"/>
                </a:lnTo>
                <a:lnTo>
                  <a:pt x="5326814" y="0"/>
                </a:lnTo>
                <a:close/>
              </a:path>
            </a:pathLst>
          </a:custGeom>
          <a:blipFill>
            <a:blip r:embed="rId4">
              <a:alphaModFix amt="44999"/>
              <a:extLst>
                <a:ext uri="{96DAC541-7B7A-43D3-8B79-37D633B846F1}">
                  <asvg:svgBlip xmlns:asvg="http://schemas.microsoft.com/office/drawing/2016/SVG/main" r:embed="rId5"/>
                </a:ext>
              </a:extLst>
            </a:blip>
            <a:stretch>
              <a:fillRect l="0" t="0" r="0" b="0"/>
            </a:stretch>
          </a:blipFill>
        </p:spPr>
      </p:sp>
      <p:sp>
        <p:nvSpPr>
          <p:cNvPr name="AutoShape 8" id="8"/>
          <p:cNvSpPr/>
          <p:nvPr/>
        </p:nvSpPr>
        <p:spPr>
          <a:xfrm>
            <a:off x="1440830" y="1641729"/>
            <a:ext cx="2453149" cy="0"/>
          </a:xfrm>
          <a:prstGeom prst="line">
            <a:avLst/>
          </a:prstGeom>
          <a:ln cap="flat" w="38100">
            <a:solidFill>
              <a:srgbClr val="3B2C5D"/>
            </a:solidFill>
            <a:prstDash val="solid"/>
            <a:headEnd type="none" len="sm" w="sm"/>
            <a:tailEnd type="oval" len="lg" w="lg"/>
          </a:ln>
        </p:spPr>
      </p:sp>
      <p:sp>
        <p:nvSpPr>
          <p:cNvPr name="Freeform 9" id="9"/>
          <p:cNvSpPr/>
          <p:nvPr/>
        </p:nvSpPr>
        <p:spPr>
          <a:xfrm flipH="false" flipV="false" rot="0">
            <a:off x="1095375" y="2365938"/>
            <a:ext cx="6019702" cy="6395433"/>
          </a:xfrm>
          <a:custGeom>
            <a:avLst/>
            <a:gdLst/>
            <a:ahLst/>
            <a:cxnLst/>
            <a:rect r="r" b="b" t="t" l="l"/>
            <a:pathLst>
              <a:path h="6395433" w="6019702">
                <a:moveTo>
                  <a:pt x="0" y="0"/>
                </a:moveTo>
                <a:lnTo>
                  <a:pt x="6019702" y="0"/>
                </a:lnTo>
                <a:lnTo>
                  <a:pt x="6019702" y="6395433"/>
                </a:lnTo>
                <a:lnTo>
                  <a:pt x="0" y="6395433"/>
                </a:lnTo>
                <a:lnTo>
                  <a:pt x="0" y="0"/>
                </a:lnTo>
                <a:close/>
              </a:path>
            </a:pathLst>
          </a:custGeom>
          <a:blipFill>
            <a:blip r:embed="rId6"/>
            <a:stretch>
              <a:fillRect l="0" t="0" r="0" b="0"/>
            </a:stretch>
          </a:blipFill>
        </p:spPr>
      </p:sp>
      <p:sp>
        <p:nvSpPr>
          <p:cNvPr name="Freeform 10" id="10"/>
          <p:cNvSpPr/>
          <p:nvPr/>
        </p:nvSpPr>
        <p:spPr>
          <a:xfrm flipH="true" flipV="false" rot="0">
            <a:off x="5936204" y="2742067"/>
            <a:ext cx="974474" cy="142517"/>
          </a:xfrm>
          <a:custGeom>
            <a:avLst/>
            <a:gdLst/>
            <a:ahLst/>
            <a:cxnLst/>
            <a:rect r="r" b="b" t="t" l="l"/>
            <a:pathLst>
              <a:path h="142517" w="974474">
                <a:moveTo>
                  <a:pt x="974474" y="0"/>
                </a:moveTo>
                <a:lnTo>
                  <a:pt x="0" y="0"/>
                </a:lnTo>
                <a:lnTo>
                  <a:pt x="0" y="142517"/>
                </a:lnTo>
                <a:lnTo>
                  <a:pt x="974474" y="142517"/>
                </a:lnTo>
                <a:lnTo>
                  <a:pt x="974474"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true" flipV="false" rot="0">
            <a:off x="6695731" y="3774268"/>
            <a:ext cx="661366" cy="142517"/>
          </a:xfrm>
          <a:custGeom>
            <a:avLst/>
            <a:gdLst/>
            <a:ahLst/>
            <a:cxnLst/>
            <a:rect r="r" b="b" t="t" l="l"/>
            <a:pathLst>
              <a:path h="142517" w="661366">
                <a:moveTo>
                  <a:pt x="661366" y="0"/>
                </a:moveTo>
                <a:lnTo>
                  <a:pt x="0" y="0"/>
                </a:lnTo>
                <a:lnTo>
                  <a:pt x="0" y="142517"/>
                </a:lnTo>
                <a:lnTo>
                  <a:pt x="661366" y="142517"/>
                </a:lnTo>
                <a:lnTo>
                  <a:pt x="661366" y="0"/>
                </a:lnTo>
                <a:close/>
              </a:path>
            </a:pathLst>
          </a:custGeom>
          <a:blipFill>
            <a:blip r:embed="rId7">
              <a:extLst>
                <a:ext uri="{96DAC541-7B7A-43D3-8B79-37D633B846F1}">
                  <asvg:svgBlip xmlns:asvg="http://schemas.microsoft.com/office/drawing/2016/SVG/main" r:embed="rId8"/>
                </a:ext>
              </a:extLst>
            </a:blip>
            <a:stretch>
              <a:fillRect l="0" t="0" r="-47342" b="0"/>
            </a:stretch>
          </a:blipFill>
        </p:spPr>
      </p:sp>
      <p:sp>
        <p:nvSpPr>
          <p:cNvPr name="Freeform 12" id="12"/>
          <p:cNvSpPr/>
          <p:nvPr/>
        </p:nvSpPr>
        <p:spPr>
          <a:xfrm flipH="true" flipV="false" rot="0">
            <a:off x="7165276" y="4894488"/>
            <a:ext cx="511942" cy="142517"/>
          </a:xfrm>
          <a:custGeom>
            <a:avLst/>
            <a:gdLst/>
            <a:ahLst/>
            <a:cxnLst/>
            <a:rect r="r" b="b" t="t" l="l"/>
            <a:pathLst>
              <a:path h="142517" w="511942">
                <a:moveTo>
                  <a:pt x="511942" y="0"/>
                </a:moveTo>
                <a:lnTo>
                  <a:pt x="0" y="0"/>
                </a:lnTo>
                <a:lnTo>
                  <a:pt x="0" y="142517"/>
                </a:lnTo>
                <a:lnTo>
                  <a:pt x="511942" y="142517"/>
                </a:lnTo>
                <a:lnTo>
                  <a:pt x="511942" y="0"/>
                </a:lnTo>
                <a:close/>
              </a:path>
            </a:pathLst>
          </a:custGeom>
          <a:blipFill>
            <a:blip r:embed="rId7">
              <a:extLst>
                <a:ext uri="{96DAC541-7B7A-43D3-8B79-37D633B846F1}">
                  <asvg:svgBlip xmlns:asvg="http://schemas.microsoft.com/office/drawing/2016/SVG/main" r:embed="rId8"/>
                </a:ext>
              </a:extLst>
            </a:blip>
            <a:stretch>
              <a:fillRect l="0" t="0" r="-90348" b="0"/>
            </a:stretch>
          </a:blipFill>
        </p:spPr>
      </p:sp>
      <p:sp>
        <p:nvSpPr>
          <p:cNvPr name="Freeform 13" id="13"/>
          <p:cNvSpPr/>
          <p:nvPr/>
        </p:nvSpPr>
        <p:spPr>
          <a:xfrm flipH="true" flipV="false" rot="0">
            <a:off x="6695731" y="7077327"/>
            <a:ext cx="661366" cy="142517"/>
          </a:xfrm>
          <a:custGeom>
            <a:avLst/>
            <a:gdLst/>
            <a:ahLst/>
            <a:cxnLst/>
            <a:rect r="r" b="b" t="t" l="l"/>
            <a:pathLst>
              <a:path h="142517" w="661366">
                <a:moveTo>
                  <a:pt x="661366" y="0"/>
                </a:moveTo>
                <a:lnTo>
                  <a:pt x="0" y="0"/>
                </a:lnTo>
                <a:lnTo>
                  <a:pt x="0" y="142517"/>
                </a:lnTo>
                <a:lnTo>
                  <a:pt x="661366" y="142517"/>
                </a:lnTo>
                <a:lnTo>
                  <a:pt x="661366" y="0"/>
                </a:lnTo>
                <a:close/>
              </a:path>
            </a:pathLst>
          </a:custGeom>
          <a:blipFill>
            <a:blip r:embed="rId7">
              <a:extLst>
                <a:ext uri="{96DAC541-7B7A-43D3-8B79-37D633B846F1}">
                  <asvg:svgBlip xmlns:asvg="http://schemas.microsoft.com/office/drawing/2016/SVG/main" r:embed="rId8"/>
                </a:ext>
              </a:extLst>
            </a:blip>
            <a:stretch>
              <a:fillRect l="0" t="0" r="-47342" b="0"/>
            </a:stretch>
          </a:blipFill>
        </p:spPr>
      </p:sp>
      <p:sp>
        <p:nvSpPr>
          <p:cNvPr name="Freeform 14" id="14"/>
          <p:cNvSpPr/>
          <p:nvPr/>
        </p:nvSpPr>
        <p:spPr>
          <a:xfrm flipH="true" flipV="false" rot="0">
            <a:off x="7165276" y="6040516"/>
            <a:ext cx="511942" cy="142517"/>
          </a:xfrm>
          <a:custGeom>
            <a:avLst/>
            <a:gdLst/>
            <a:ahLst/>
            <a:cxnLst/>
            <a:rect r="r" b="b" t="t" l="l"/>
            <a:pathLst>
              <a:path h="142517" w="511942">
                <a:moveTo>
                  <a:pt x="511942" y="0"/>
                </a:moveTo>
                <a:lnTo>
                  <a:pt x="0" y="0"/>
                </a:lnTo>
                <a:lnTo>
                  <a:pt x="0" y="142517"/>
                </a:lnTo>
                <a:lnTo>
                  <a:pt x="511942" y="142517"/>
                </a:lnTo>
                <a:lnTo>
                  <a:pt x="511942" y="0"/>
                </a:lnTo>
                <a:close/>
              </a:path>
            </a:pathLst>
          </a:custGeom>
          <a:blipFill>
            <a:blip r:embed="rId7">
              <a:extLst>
                <a:ext uri="{96DAC541-7B7A-43D3-8B79-37D633B846F1}">
                  <asvg:svgBlip xmlns:asvg="http://schemas.microsoft.com/office/drawing/2016/SVG/main" r:embed="rId8"/>
                </a:ext>
              </a:extLst>
            </a:blip>
            <a:stretch>
              <a:fillRect l="0" t="0" r="-90348" b="0"/>
            </a:stretch>
          </a:blipFill>
        </p:spPr>
      </p:sp>
      <p:sp>
        <p:nvSpPr>
          <p:cNvPr name="Freeform 15" id="15"/>
          <p:cNvSpPr/>
          <p:nvPr/>
        </p:nvSpPr>
        <p:spPr>
          <a:xfrm flipH="false" flipV="false" rot="0">
            <a:off x="407973" y="280138"/>
            <a:ext cx="620727" cy="993164"/>
          </a:xfrm>
          <a:custGeom>
            <a:avLst/>
            <a:gdLst/>
            <a:ahLst/>
            <a:cxnLst/>
            <a:rect r="r" b="b" t="t" l="l"/>
            <a:pathLst>
              <a:path h="993164" w="620727">
                <a:moveTo>
                  <a:pt x="0" y="0"/>
                </a:moveTo>
                <a:lnTo>
                  <a:pt x="620727" y="0"/>
                </a:lnTo>
                <a:lnTo>
                  <a:pt x="620727" y="993164"/>
                </a:lnTo>
                <a:lnTo>
                  <a:pt x="0" y="993164"/>
                </a:lnTo>
                <a:lnTo>
                  <a:pt x="0" y="0"/>
                </a:lnTo>
                <a:close/>
              </a:path>
            </a:pathLst>
          </a:custGeom>
          <a:blipFill>
            <a:blip r:embed="rId9"/>
            <a:stretch>
              <a:fillRect l="0" t="0" r="0" b="0"/>
            </a:stretch>
          </a:blipFill>
        </p:spPr>
      </p:sp>
      <p:sp>
        <p:nvSpPr>
          <p:cNvPr name="Freeform 16" id="16"/>
          <p:cNvSpPr/>
          <p:nvPr/>
        </p:nvSpPr>
        <p:spPr>
          <a:xfrm flipH="true" flipV="false" rot="3176132">
            <a:off x="-1482307" y="8917325"/>
            <a:ext cx="5326813" cy="2558823"/>
          </a:xfrm>
          <a:custGeom>
            <a:avLst/>
            <a:gdLst/>
            <a:ahLst/>
            <a:cxnLst/>
            <a:rect r="r" b="b" t="t" l="l"/>
            <a:pathLst>
              <a:path h="2558823" w="5326813">
                <a:moveTo>
                  <a:pt x="5326814" y="0"/>
                </a:moveTo>
                <a:lnTo>
                  <a:pt x="0" y="0"/>
                </a:lnTo>
                <a:lnTo>
                  <a:pt x="0" y="2558822"/>
                </a:lnTo>
                <a:lnTo>
                  <a:pt x="5326814" y="2558822"/>
                </a:lnTo>
                <a:lnTo>
                  <a:pt x="5326814" y="0"/>
                </a:lnTo>
                <a:close/>
              </a:path>
            </a:pathLst>
          </a:custGeom>
          <a:blipFill>
            <a:blip r:embed="rId4">
              <a:alphaModFix amt="44999"/>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91975" y="7300332"/>
            <a:ext cx="1663900" cy="2868793"/>
          </a:xfrm>
          <a:custGeom>
            <a:avLst/>
            <a:gdLst/>
            <a:ahLst/>
            <a:cxnLst/>
            <a:rect r="r" b="b" t="t" l="l"/>
            <a:pathLst>
              <a:path h="2868793" w="1663900">
                <a:moveTo>
                  <a:pt x="0" y="0"/>
                </a:moveTo>
                <a:lnTo>
                  <a:pt x="1663900" y="0"/>
                </a:lnTo>
                <a:lnTo>
                  <a:pt x="1663900" y="2868793"/>
                </a:lnTo>
                <a:lnTo>
                  <a:pt x="0" y="286879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8" id="18"/>
          <p:cNvSpPr/>
          <p:nvPr/>
        </p:nvSpPr>
        <p:spPr>
          <a:xfrm flipH="false" flipV="false" rot="0">
            <a:off x="16344207" y="7587969"/>
            <a:ext cx="1885278" cy="2529031"/>
          </a:xfrm>
          <a:custGeom>
            <a:avLst/>
            <a:gdLst/>
            <a:ahLst/>
            <a:cxnLst/>
            <a:rect r="r" b="b" t="t" l="l"/>
            <a:pathLst>
              <a:path h="2529031" w="1885278">
                <a:moveTo>
                  <a:pt x="0" y="0"/>
                </a:moveTo>
                <a:lnTo>
                  <a:pt x="1885278" y="0"/>
                </a:lnTo>
                <a:lnTo>
                  <a:pt x="1885278" y="2529031"/>
                </a:lnTo>
                <a:lnTo>
                  <a:pt x="0" y="252903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9" id="19"/>
          <p:cNvSpPr/>
          <p:nvPr/>
        </p:nvSpPr>
        <p:spPr>
          <a:xfrm flipH="false" flipV="false" rot="0">
            <a:off x="16344207" y="288847"/>
            <a:ext cx="1566685" cy="1716488"/>
          </a:xfrm>
          <a:custGeom>
            <a:avLst/>
            <a:gdLst/>
            <a:ahLst/>
            <a:cxnLst/>
            <a:rect r="r" b="b" t="t" l="l"/>
            <a:pathLst>
              <a:path h="1716488" w="1566685">
                <a:moveTo>
                  <a:pt x="0" y="0"/>
                </a:moveTo>
                <a:lnTo>
                  <a:pt x="1566685" y="0"/>
                </a:lnTo>
                <a:lnTo>
                  <a:pt x="1566685" y="1716487"/>
                </a:lnTo>
                <a:lnTo>
                  <a:pt x="0" y="171648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0" id="20"/>
          <p:cNvSpPr txBox="true"/>
          <p:nvPr/>
        </p:nvSpPr>
        <p:spPr>
          <a:xfrm rot="0">
            <a:off x="1440830" y="962025"/>
            <a:ext cx="9313247" cy="555879"/>
          </a:xfrm>
          <a:prstGeom prst="rect">
            <a:avLst/>
          </a:prstGeom>
        </p:spPr>
        <p:txBody>
          <a:bodyPr anchor="t" rtlCol="false" tIns="0" lIns="0" bIns="0" rIns="0">
            <a:spAutoFit/>
          </a:bodyPr>
          <a:lstStyle/>
          <a:p>
            <a:pPr algn="l">
              <a:lnSpc>
                <a:spcPts val="4536"/>
              </a:lnSpc>
            </a:pPr>
            <a:r>
              <a:rPr lang="en-US" sz="3240">
                <a:solidFill>
                  <a:srgbClr val="3B2C5D"/>
                </a:solidFill>
                <a:latin typeface="Zen Dots"/>
                <a:ea typeface="Zen Dots"/>
                <a:cs typeface="Zen Dots"/>
                <a:sym typeface="Zen Dots"/>
              </a:rPr>
              <a:t>METODE</a:t>
            </a:r>
          </a:p>
        </p:txBody>
      </p:sp>
      <p:sp>
        <p:nvSpPr>
          <p:cNvPr name="TextBox 21" id="21"/>
          <p:cNvSpPr txBox="true"/>
          <p:nvPr/>
        </p:nvSpPr>
        <p:spPr>
          <a:xfrm rot="0">
            <a:off x="7095374" y="2427292"/>
            <a:ext cx="9543585" cy="656172"/>
          </a:xfrm>
          <a:prstGeom prst="rect">
            <a:avLst/>
          </a:prstGeom>
        </p:spPr>
        <p:txBody>
          <a:bodyPr anchor="t" rtlCol="false" tIns="0" lIns="0" bIns="0" rIns="0">
            <a:spAutoFit/>
          </a:bodyPr>
          <a:lstStyle/>
          <a:p>
            <a:pPr algn="just">
              <a:lnSpc>
                <a:spcPts val="2572"/>
              </a:lnSpc>
            </a:pPr>
            <a:r>
              <a:rPr lang="en-US" sz="2058">
                <a:solidFill>
                  <a:srgbClr val="3B2C5D"/>
                </a:solidFill>
                <a:latin typeface="ABeeZee"/>
                <a:ea typeface="ABeeZee"/>
                <a:cs typeface="ABeeZee"/>
                <a:sym typeface="ABeeZee"/>
              </a:rPr>
              <a:t>GEO database · accession GSE28735 · package GEOquery (R 4.5.1) 45 sampel tumor + 45 sampel normal · 45 pasien PDAC</a:t>
            </a:r>
          </a:p>
        </p:txBody>
      </p:sp>
      <p:sp>
        <p:nvSpPr>
          <p:cNvPr name="TextBox 22" id="22"/>
          <p:cNvSpPr txBox="true"/>
          <p:nvPr/>
        </p:nvSpPr>
        <p:spPr>
          <a:xfrm rot="0">
            <a:off x="2226822" y="2594783"/>
            <a:ext cx="3651122" cy="331111"/>
          </a:xfrm>
          <a:prstGeom prst="rect">
            <a:avLst/>
          </a:prstGeom>
        </p:spPr>
        <p:txBody>
          <a:bodyPr anchor="t" rtlCol="false" tIns="0" lIns="0" bIns="0" rIns="0">
            <a:spAutoFit/>
          </a:bodyPr>
          <a:lstStyle/>
          <a:p>
            <a:pPr algn="ctr">
              <a:lnSpc>
                <a:spcPts val="2572"/>
              </a:lnSpc>
            </a:pPr>
            <a:r>
              <a:rPr lang="en-US" sz="2058">
                <a:solidFill>
                  <a:srgbClr val="3B2C5D"/>
                </a:solidFill>
                <a:latin typeface="ABeeZee"/>
                <a:ea typeface="ABeeZee"/>
                <a:cs typeface="ABeeZee"/>
                <a:sym typeface="ABeeZee"/>
              </a:rPr>
              <a:t>Pengambilan data</a:t>
            </a:r>
          </a:p>
        </p:txBody>
      </p:sp>
      <p:sp>
        <p:nvSpPr>
          <p:cNvPr name="TextBox 23" id="23"/>
          <p:cNvSpPr txBox="true"/>
          <p:nvPr/>
        </p:nvSpPr>
        <p:spPr>
          <a:xfrm rot="0">
            <a:off x="3288009" y="3560422"/>
            <a:ext cx="3056161" cy="656241"/>
          </a:xfrm>
          <a:prstGeom prst="rect">
            <a:avLst/>
          </a:prstGeom>
        </p:spPr>
        <p:txBody>
          <a:bodyPr anchor="t" rtlCol="false" tIns="0" lIns="0" bIns="0" rIns="0">
            <a:spAutoFit/>
          </a:bodyPr>
          <a:lstStyle/>
          <a:p>
            <a:pPr algn="ctr">
              <a:lnSpc>
                <a:spcPts val="2572"/>
              </a:lnSpc>
            </a:pPr>
            <a:r>
              <a:rPr lang="en-US" sz="2058">
                <a:solidFill>
                  <a:srgbClr val="3B2C5D"/>
                </a:solidFill>
                <a:latin typeface="ABeeZee"/>
                <a:ea typeface="ABeeZee"/>
                <a:cs typeface="ABeeZee"/>
                <a:sym typeface="ABeeZee"/>
              </a:rPr>
              <a:t>Preproccessing &amp; Normalisasi</a:t>
            </a:r>
          </a:p>
        </p:txBody>
      </p:sp>
      <p:sp>
        <p:nvSpPr>
          <p:cNvPr name="TextBox 24" id="24"/>
          <p:cNvSpPr txBox="true"/>
          <p:nvPr/>
        </p:nvSpPr>
        <p:spPr>
          <a:xfrm rot="0">
            <a:off x="4042532" y="4767023"/>
            <a:ext cx="2589935" cy="331111"/>
          </a:xfrm>
          <a:prstGeom prst="rect">
            <a:avLst/>
          </a:prstGeom>
        </p:spPr>
        <p:txBody>
          <a:bodyPr anchor="t" rtlCol="false" tIns="0" lIns="0" bIns="0" rIns="0">
            <a:spAutoFit/>
          </a:bodyPr>
          <a:lstStyle/>
          <a:p>
            <a:pPr algn="ctr">
              <a:lnSpc>
                <a:spcPts val="2572"/>
              </a:lnSpc>
            </a:pPr>
            <a:r>
              <a:rPr lang="en-US" sz="2058">
                <a:solidFill>
                  <a:srgbClr val="3B2C5D"/>
                </a:solidFill>
                <a:latin typeface="ABeeZee"/>
                <a:ea typeface="ABeeZee"/>
                <a:cs typeface="ABeeZee"/>
                <a:sym typeface="ABeeZee"/>
              </a:rPr>
              <a:t>Analisis DEG</a:t>
            </a:r>
          </a:p>
        </p:txBody>
      </p:sp>
      <p:sp>
        <p:nvSpPr>
          <p:cNvPr name="TextBox 25" id="25"/>
          <p:cNvSpPr txBox="true"/>
          <p:nvPr/>
        </p:nvSpPr>
        <p:spPr>
          <a:xfrm rot="0">
            <a:off x="4042532" y="5913051"/>
            <a:ext cx="2589935" cy="331111"/>
          </a:xfrm>
          <a:prstGeom prst="rect">
            <a:avLst/>
          </a:prstGeom>
        </p:spPr>
        <p:txBody>
          <a:bodyPr anchor="t" rtlCol="false" tIns="0" lIns="0" bIns="0" rIns="0">
            <a:spAutoFit/>
          </a:bodyPr>
          <a:lstStyle/>
          <a:p>
            <a:pPr algn="ctr">
              <a:lnSpc>
                <a:spcPts val="2572"/>
              </a:lnSpc>
            </a:pPr>
            <a:r>
              <a:rPr lang="en-US" sz="2058">
                <a:solidFill>
                  <a:srgbClr val="3B2C5D"/>
                </a:solidFill>
                <a:latin typeface="ABeeZee"/>
                <a:ea typeface="ABeeZee"/>
                <a:cs typeface="ABeeZee"/>
                <a:sym typeface="ABeeZee"/>
              </a:rPr>
              <a:t>Visualisasi Data</a:t>
            </a:r>
          </a:p>
        </p:txBody>
      </p:sp>
      <p:sp>
        <p:nvSpPr>
          <p:cNvPr name="TextBox 26" id="26"/>
          <p:cNvSpPr txBox="true"/>
          <p:nvPr/>
        </p:nvSpPr>
        <p:spPr>
          <a:xfrm rot="0">
            <a:off x="3179184" y="6931729"/>
            <a:ext cx="3273811" cy="656241"/>
          </a:xfrm>
          <a:prstGeom prst="rect">
            <a:avLst/>
          </a:prstGeom>
        </p:spPr>
        <p:txBody>
          <a:bodyPr anchor="t" rtlCol="false" tIns="0" lIns="0" bIns="0" rIns="0">
            <a:spAutoFit/>
          </a:bodyPr>
          <a:lstStyle/>
          <a:p>
            <a:pPr algn="ctr">
              <a:lnSpc>
                <a:spcPts val="2572"/>
              </a:lnSpc>
            </a:pPr>
            <a:r>
              <a:rPr lang="en-US" sz="2058">
                <a:solidFill>
                  <a:srgbClr val="3B2C5D"/>
                </a:solidFill>
                <a:latin typeface="ABeeZee"/>
                <a:ea typeface="ABeeZee"/>
                <a:cs typeface="ABeeZee"/>
                <a:sym typeface="ABeeZee"/>
              </a:rPr>
              <a:t>Pathway Enrichment Analysis</a:t>
            </a:r>
          </a:p>
        </p:txBody>
      </p:sp>
      <p:sp>
        <p:nvSpPr>
          <p:cNvPr name="TextBox 27" id="27"/>
          <p:cNvSpPr txBox="true"/>
          <p:nvPr/>
        </p:nvSpPr>
        <p:spPr>
          <a:xfrm rot="0">
            <a:off x="2415478" y="7934465"/>
            <a:ext cx="3273811" cy="656241"/>
          </a:xfrm>
          <a:prstGeom prst="rect">
            <a:avLst/>
          </a:prstGeom>
        </p:spPr>
        <p:txBody>
          <a:bodyPr anchor="t" rtlCol="false" tIns="0" lIns="0" bIns="0" rIns="0">
            <a:spAutoFit/>
          </a:bodyPr>
          <a:lstStyle/>
          <a:p>
            <a:pPr algn="ctr">
              <a:lnSpc>
                <a:spcPts val="2572"/>
              </a:lnSpc>
            </a:pPr>
            <a:r>
              <a:rPr lang="en-US" sz="2058">
                <a:solidFill>
                  <a:srgbClr val="3B2C5D"/>
                </a:solidFill>
                <a:latin typeface="ABeeZee"/>
                <a:ea typeface="ABeeZee"/>
                <a:cs typeface="ABeeZee"/>
                <a:sym typeface="ABeeZee"/>
              </a:rPr>
              <a:t>Hasil disimpan </a:t>
            </a:r>
          </a:p>
          <a:p>
            <a:pPr algn="ctr">
              <a:lnSpc>
                <a:spcPts val="2572"/>
              </a:lnSpc>
            </a:pPr>
            <a:r>
              <a:rPr lang="en-US" sz="2058">
                <a:solidFill>
                  <a:srgbClr val="3B2C5D"/>
                </a:solidFill>
                <a:latin typeface="ABeeZee"/>
                <a:ea typeface="ABeeZee"/>
                <a:cs typeface="ABeeZee"/>
                <a:sym typeface="ABeeZee"/>
              </a:rPr>
              <a:t>format CSV</a:t>
            </a:r>
          </a:p>
        </p:txBody>
      </p:sp>
      <p:sp>
        <p:nvSpPr>
          <p:cNvPr name="TextBox 28" id="28"/>
          <p:cNvSpPr txBox="true"/>
          <p:nvPr/>
        </p:nvSpPr>
        <p:spPr>
          <a:xfrm rot="0">
            <a:off x="7527741" y="3481938"/>
            <a:ext cx="9111218" cy="656172"/>
          </a:xfrm>
          <a:prstGeom prst="rect">
            <a:avLst/>
          </a:prstGeom>
        </p:spPr>
        <p:txBody>
          <a:bodyPr anchor="t" rtlCol="false" tIns="0" lIns="0" bIns="0" rIns="0">
            <a:spAutoFit/>
          </a:bodyPr>
          <a:lstStyle/>
          <a:p>
            <a:pPr algn="just">
              <a:lnSpc>
                <a:spcPts val="2572"/>
              </a:lnSpc>
            </a:pPr>
            <a:r>
              <a:rPr lang="en-US" sz="2058">
                <a:solidFill>
                  <a:srgbClr val="3B2C5D"/>
                </a:solidFill>
                <a:latin typeface="ABeeZee"/>
                <a:ea typeface="ABeeZee"/>
                <a:cs typeface="ABeeZee"/>
                <a:sym typeface="ABeeZee"/>
              </a:rPr>
              <a:t>Cek distribusi · transformasi log2 · ekstraksi matriks ekspresi Pengelompokan tumor vs normal · visualisasi boxplot</a:t>
            </a:r>
          </a:p>
        </p:txBody>
      </p:sp>
      <p:sp>
        <p:nvSpPr>
          <p:cNvPr name="TextBox 29" id="29"/>
          <p:cNvSpPr txBox="true"/>
          <p:nvPr/>
        </p:nvSpPr>
        <p:spPr>
          <a:xfrm rot="0">
            <a:off x="7828462" y="4433684"/>
            <a:ext cx="8810497" cy="981371"/>
          </a:xfrm>
          <a:prstGeom prst="rect">
            <a:avLst/>
          </a:prstGeom>
        </p:spPr>
        <p:txBody>
          <a:bodyPr anchor="t" rtlCol="false" tIns="0" lIns="0" bIns="0" rIns="0">
            <a:spAutoFit/>
          </a:bodyPr>
          <a:lstStyle/>
          <a:p>
            <a:pPr algn="just">
              <a:lnSpc>
                <a:spcPts val="2572"/>
              </a:lnSpc>
            </a:pPr>
            <a:r>
              <a:rPr lang="en-US" sz="2058">
                <a:solidFill>
                  <a:srgbClr val="3B2C5D"/>
                </a:solidFill>
                <a:latin typeface="ABeeZee"/>
                <a:ea typeface="ABeeZee"/>
                <a:cs typeface="ABeeZee"/>
                <a:sym typeface="ABeeZee"/>
              </a:rPr>
              <a:t>Package limma · pendekatan empirical BayeslmFit → eBayes → topTable · anotasi probe via hgu133a.db </a:t>
            </a:r>
          </a:p>
          <a:p>
            <a:pPr algn="just">
              <a:lnSpc>
                <a:spcPts val="2572"/>
              </a:lnSpc>
            </a:pPr>
            <a:r>
              <a:rPr lang="en-US" sz="2058">
                <a:solidFill>
                  <a:srgbClr val="3B2C5D"/>
                </a:solidFill>
                <a:latin typeface="ABeeZee"/>
                <a:ea typeface="ABeeZee"/>
                <a:cs typeface="ABeeZee"/>
                <a:sym typeface="ABeeZee"/>
              </a:rPr>
              <a:t>Threshold: |log2FC| &gt; 1 dan adjusted p-value &lt; 0.05</a:t>
            </a:r>
          </a:p>
        </p:txBody>
      </p:sp>
      <p:sp>
        <p:nvSpPr>
          <p:cNvPr name="TextBox 30" id="30"/>
          <p:cNvSpPr txBox="true"/>
          <p:nvPr/>
        </p:nvSpPr>
        <p:spPr>
          <a:xfrm rot="0">
            <a:off x="7828462" y="5711249"/>
            <a:ext cx="8810497" cy="981371"/>
          </a:xfrm>
          <a:prstGeom prst="rect">
            <a:avLst/>
          </a:prstGeom>
        </p:spPr>
        <p:txBody>
          <a:bodyPr anchor="t" rtlCol="false" tIns="0" lIns="0" bIns="0" rIns="0">
            <a:spAutoFit/>
          </a:bodyPr>
          <a:lstStyle/>
          <a:p>
            <a:pPr algn="just">
              <a:lnSpc>
                <a:spcPts val="2572"/>
              </a:lnSpc>
            </a:pPr>
            <a:r>
              <a:rPr lang="en-US" sz="2058">
                <a:solidFill>
                  <a:srgbClr val="3B2C5D"/>
                </a:solidFill>
                <a:latin typeface="ABeeZee"/>
                <a:ea typeface="ABeeZee"/>
                <a:cs typeface="ABeeZee"/>
                <a:sym typeface="ABeeZee"/>
              </a:rPr>
              <a:t>Package ggplot2 · R Studio ⟶ Boxplot (kualitas data), UMAP (pemisahan grup), Volcano plot (sebaran DEG), dan Heatmaptop (50 DEG)</a:t>
            </a:r>
          </a:p>
        </p:txBody>
      </p:sp>
      <p:sp>
        <p:nvSpPr>
          <p:cNvPr name="TextBox 31" id="31"/>
          <p:cNvSpPr txBox="true"/>
          <p:nvPr/>
        </p:nvSpPr>
        <p:spPr>
          <a:xfrm rot="0">
            <a:off x="7527741" y="6827392"/>
            <a:ext cx="9111218" cy="1306501"/>
          </a:xfrm>
          <a:prstGeom prst="rect">
            <a:avLst/>
          </a:prstGeom>
        </p:spPr>
        <p:txBody>
          <a:bodyPr anchor="t" rtlCol="false" tIns="0" lIns="0" bIns="0" rIns="0">
            <a:spAutoFit/>
          </a:bodyPr>
          <a:lstStyle/>
          <a:p>
            <a:pPr algn="just">
              <a:lnSpc>
                <a:spcPts val="2572"/>
              </a:lnSpc>
            </a:pPr>
            <a:r>
              <a:rPr lang="en-US" sz="2058">
                <a:solidFill>
                  <a:srgbClr val="3B2C5D"/>
                </a:solidFill>
                <a:latin typeface="ABeeZee"/>
                <a:ea typeface="ABeeZee"/>
                <a:cs typeface="ABeeZee"/>
                <a:sym typeface="ABeeZee"/>
              </a:rPr>
              <a:t>Package cluster Profiler GO Biological Process → proses biologis yang terlibat</a:t>
            </a:r>
          </a:p>
          <a:p>
            <a:pPr algn="just">
              <a:lnSpc>
                <a:spcPts val="2572"/>
              </a:lnSpc>
            </a:pPr>
            <a:r>
              <a:rPr lang="en-US" sz="2058">
                <a:solidFill>
                  <a:srgbClr val="3B2C5D"/>
                </a:solidFill>
                <a:latin typeface="ABeeZee"/>
                <a:ea typeface="ABeeZee"/>
                <a:cs typeface="ABeeZee"/>
                <a:sym typeface="ABeeZee"/>
              </a:rPr>
              <a:t>KEGG Pathway → jalur sinyal yang terganggu · output: barplot &amp; dotplot</a:t>
            </a:r>
          </a:p>
        </p:txBody>
      </p:sp>
      <p:sp>
        <p:nvSpPr>
          <p:cNvPr name="Freeform 32" id="32"/>
          <p:cNvSpPr/>
          <p:nvPr/>
        </p:nvSpPr>
        <p:spPr>
          <a:xfrm flipH="true" flipV="false" rot="0">
            <a:off x="5936204" y="8331978"/>
            <a:ext cx="974474" cy="142517"/>
          </a:xfrm>
          <a:custGeom>
            <a:avLst/>
            <a:gdLst/>
            <a:ahLst/>
            <a:cxnLst/>
            <a:rect r="r" b="b" t="t" l="l"/>
            <a:pathLst>
              <a:path h="142517" w="974474">
                <a:moveTo>
                  <a:pt x="974474" y="0"/>
                </a:moveTo>
                <a:lnTo>
                  <a:pt x="0" y="0"/>
                </a:lnTo>
                <a:lnTo>
                  <a:pt x="0" y="142516"/>
                </a:lnTo>
                <a:lnTo>
                  <a:pt x="974474" y="142516"/>
                </a:lnTo>
                <a:lnTo>
                  <a:pt x="974474"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3" id="33"/>
          <p:cNvSpPr txBox="true"/>
          <p:nvPr/>
        </p:nvSpPr>
        <p:spPr>
          <a:xfrm rot="0">
            <a:off x="7071833" y="8286293"/>
            <a:ext cx="4265378" cy="331076"/>
          </a:xfrm>
          <a:prstGeom prst="rect">
            <a:avLst/>
          </a:prstGeom>
        </p:spPr>
        <p:txBody>
          <a:bodyPr anchor="t" rtlCol="false" tIns="0" lIns="0" bIns="0" rIns="0">
            <a:spAutoFit/>
          </a:bodyPr>
          <a:lstStyle/>
          <a:p>
            <a:pPr algn="just">
              <a:lnSpc>
                <a:spcPts val="2572"/>
              </a:lnSpc>
            </a:pPr>
            <a:r>
              <a:rPr lang="en-US" sz="2058">
                <a:solidFill>
                  <a:srgbClr val="3B2C5D"/>
                </a:solidFill>
                <a:latin typeface="ABeeZee"/>
                <a:ea typeface="ABeeZee"/>
                <a:cs typeface="ABeeZee"/>
                <a:sym typeface="ABeeZee"/>
              </a:rPr>
              <a:t>Hasil disimpan dalam format CSV</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1E5FF"/>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625540" y="-147540"/>
            <a:ext cx="3514920" cy="4114800"/>
          </a:xfrm>
          <a:custGeom>
            <a:avLst/>
            <a:gdLst/>
            <a:ahLst/>
            <a:cxnLst/>
            <a:rect r="r" b="b" t="t" l="l"/>
            <a:pathLst>
              <a:path h="4114800" w="3514920">
                <a:moveTo>
                  <a:pt x="0" y="0"/>
                </a:moveTo>
                <a:lnTo>
                  <a:pt x="3514920" y="0"/>
                </a:lnTo>
                <a:lnTo>
                  <a:pt x="3514920" y="4114800"/>
                </a:lnTo>
                <a:lnTo>
                  <a:pt x="0" y="4114800"/>
                </a:lnTo>
                <a:lnTo>
                  <a:pt x="0" y="0"/>
                </a:lnTo>
                <a:close/>
              </a:path>
            </a:pathLst>
          </a:custGeom>
          <a:blipFill>
            <a:blip r:embed="rId2">
              <a:alphaModFix amt="44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4473140" y="-299940"/>
            <a:ext cx="3514920" cy="4114800"/>
          </a:xfrm>
          <a:custGeom>
            <a:avLst/>
            <a:gdLst/>
            <a:ahLst/>
            <a:cxnLst/>
            <a:rect r="r" b="b" t="t" l="l"/>
            <a:pathLst>
              <a:path h="4114800" w="3514920">
                <a:moveTo>
                  <a:pt x="0" y="0"/>
                </a:moveTo>
                <a:lnTo>
                  <a:pt x="3514920" y="0"/>
                </a:lnTo>
                <a:lnTo>
                  <a:pt x="3514920" y="4114800"/>
                </a:lnTo>
                <a:lnTo>
                  <a:pt x="0" y="4114800"/>
                </a:lnTo>
                <a:lnTo>
                  <a:pt x="0" y="0"/>
                </a:lnTo>
                <a:close/>
              </a:path>
            </a:pathLst>
          </a:custGeom>
          <a:blipFill>
            <a:blip r:embed="rId2">
              <a:alphaModFix amt="44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173200" y="8036136"/>
            <a:ext cx="5326813" cy="2558823"/>
          </a:xfrm>
          <a:custGeom>
            <a:avLst/>
            <a:gdLst/>
            <a:ahLst/>
            <a:cxnLst/>
            <a:rect r="r" b="b" t="t" l="l"/>
            <a:pathLst>
              <a:path h="2558823" w="5326813">
                <a:moveTo>
                  <a:pt x="5326813" y="0"/>
                </a:moveTo>
                <a:lnTo>
                  <a:pt x="0" y="0"/>
                </a:lnTo>
                <a:lnTo>
                  <a:pt x="0" y="2558823"/>
                </a:lnTo>
                <a:lnTo>
                  <a:pt x="5326813" y="2558823"/>
                </a:lnTo>
                <a:lnTo>
                  <a:pt x="5326813" y="0"/>
                </a:lnTo>
                <a:close/>
              </a:path>
            </a:pathLst>
          </a:custGeom>
          <a:blipFill>
            <a:blip r:embed="rId4">
              <a:alphaModFix amt="44999"/>
              <a:extLst>
                <a:ext uri="{96DAC541-7B7A-43D3-8B79-37D633B846F1}">
                  <asvg:svgBlip xmlns:asvg="http://schemas.microsoft.com/office/drawing/2016/SVG/main" r:embed="rId5"/>
                </a:ext>
              </a:extLst>
            </a:blip>
            <a:stretch>
              <a:fillRect l="0" t="0" r="0" b="0"/>
            </a:stretch>
          </a:blipFill>
        </p:spPr>
      </p:sp>
      <p:sp>
        <p:nvSpPr>
          <p:cNvPr name="AutoShape 5" id="5"/>
          <p:cNvSpPr/>
          <p:nvPr/>
        </p:nvSpPr>
        <p:spPr>
          <a:xfrm>
            <a:off x="1490412" y="1642873"/>
            <a:ext cx="7022390" cy="0"/>
          </a:xfrm>
          <a:prstGeom prst="line">
            <a:avLst/>
          </a:prstGeom>
          <a:ln cap="flat" w="38100">
            <a:solidFill>
              <a:srgbClr val="3B2C5D"/>
            </a:solidFill>
            <a:prstDash val="solid"/>
            <a:headEnd type="none" len="sm" w="sm"/>
            <a:tailEnd type="oval" len="lg" w="lg"/>
          </a:ln>
        </p:spPr>
      </p:sp>
      <p:sp>
        <p:nvSpPr>
          <p:cNvPr name="Freeform 6" id="6"/>
          <p:cNvSpPr/>
          <p:nvPr/>
        </p:nvSpPr>
        <p:spPr>
          <a:xfrm flipH="false" flipV="false" rot="-9034430">
            <a:off x="-2460421" y="8017845"/>
            <a:ext cx="6589372" cy="5223575"/>
          </a:xfrm>
          <a:custGeom>
            <a:avLst/>
            <a:gdLst/>
            <a:ahLst/>
            <a:cxnLst/>
            <a:rect r="r" b="b" t="t" l="l"/>
            <a:pathLst>
              <a:path h="5223575" w="6589372">
                <a:moveTo>
                  <a:pt x="0" y="0"/>
                </a:moveTo>
                <a:lnTo>
                  <a:pt x="6589372" y="0"/>
                </a:lnTo>
                <a:lnTo>
                  <a:pt x="6589372" y="5223575"/>
                </a:lnTo>
                <a:lnTo>
                  <a:pt x="0" y="5223575"/>
                </a:lnTo>
                <a:lnTo>
                  <a:pt x="0" y="0"/>
                </a:lnTo>
                <a:close/>
              </a:path>
            </a:pathLst>
          </a:custGeom>
          <a:blipFill>
            <a:blip r:embed="rId6">
              <a:alphaModFix amt="44999"/>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34265" y="2266615"/>
            <a:ext cx="8021113" cy="3437620"/>
          </a:xfrm>
          <a:custGeom>
            <a:avLst/>
            <a:gdLst/>
            <a:ahLst/>
            <a:cxnLst/>
            <a:rect r="r" b="b" t="t" l="l"/>
            <a:pathLst>
              <a:path h="3437620" w="8021113">
                <a:moveTo>
                  <a:pt x="0" y="0"/>
                </a:moveTo>
                <a:lnTo>
                  <a:pt x="8021113" y="0"/>
                </a:lnTo>
                <a:lnTo>
                  <a:pt x="8021113" y="3437619"/>
                </a:lnTo>
                <a:lnTo>
                  <a:pt x="0" y="3437619"/>
                </a:lnTo>
                <a:lnTo>
                  <a:pt x="0" y="0"/>
                </a:lnTo>
                <a:close/>
              </a:path>
            </a:pathLst>
          </a:custGeom>
          <a:blipFill>
            <a:blip r:embed="rId8"/>
            <a:stretch>
              <a:fillRect l="0" t="0" r="0" b="0"/>
            </a:stretch>
          </a:blipFill>
          <a:ln w="38100" cap="sq">
            <a:solidFill>
              <a:srgbClr val="7C3D7C"/>
            </a:solidFill>
            <a:prstDash val="solid"/>
            <a:miter/>
          </a:ln>
        </p:spPr>
      </p:sp>
      <p:sp>
        <p:nvSpPr>
          <p:cNvPr name="Freeform 8" id="8"/>
          <p:cNvSpPr/>
          <p:nvPr/>
        </p:nvSpPr>
        <p:spPr>
          <a:xfrm flipH="false" flipV="false" rot="0">
            <a:off x="10712481" y="2094042"/>
            <a:ext cx="5897322" cy="4422992"/>
          </a:xfrm>
          <a:custGeom>
            <a:avLst/>
            <a:gdLst/>
            <a:ahLst/>
            <a:cxnLst/>
            <a:rect r="r" b="b" t="t" l="l"/>
            <a:pathLst>
              <a:path h="4422992" w="5897322">
                <a:moveTo>
                  <a:pt x="0" y="0"/>
                </a:moveTo>
                <a:lnTo>
                  <a:pt x="5897322" y="0"/>
                </a:lnTo>
                <a:lnTo>
                  <a:pt x="5897322" y="4422992"/>
                </a:lnTo>
                <a:lnTo>
                  <a:pt x="0" y="4422992"/>
                </a:lnTo>
                <a:lnTo>
                  <a:pt x="0" y="0"/>
                </a:lnTo>
                <a:close/>
              </a:path>
            </a:pathLst>
          </a:custGeom>
          <a:blipFill>
            <a:blip r:embed="rId9"/>
            <a:stretch>
              <a:fillRect l="0" t="0" r="0" b="0"/>
            </a:stretch>
          </a:blipFill>
          <a:ln w="38100" cap="sq">
            <a:solidFill>
              <a:srgbClr val="7C3D7C"/>
            </a:solidFill>
            <a:prstDash val="solid"/>
            <a:miter/>
          </a:ln>
        </p:spPr>
      </p:sp>
      <p:sp>
        <p:nvSpPr>
          <p:cNvPr name="Freeform 9" id="9"/>
          <p:cNvSpPr/>
          <p:nvPr/>
        </p:nvSpPr>
        <p:spPr>
          <a:xfrm flipH="false" flipV="false" rot="0">
            <a:off x="15592529" y="142295"/>
            <a:ext cx="2488155" cy="1772810"/>
          </a:xfrm>
          <a:custGeom>
            <a:avLst/>
            <a:gdLst/>
            <a:ahLst/>
            <a:cxnLst/>
            <a:rect r="r" b="b" t="t" l="l"/>
            <a:pathLst>
              <a:path h="1772810" w="2488155">
                <a:moveTo>
                  <a:pt x="0" y="0"/>
                </a:moveTo>
                <a:lnTo>
                  <a:pt x="2488155" y="0"/>
                </a:lnTo>
                <a:lnTo>
                  <a:pt x="2488155" y="1772810"/>
                </a:lnTo>
                <a:lnTo>
                  <a:pt x="0" y="1772810"/>
                </a:lnTo>
                <a:lnTo>
                  <a:pt x="0" y="0"/>
                </a:lnTo>
                <a:close/>
              </a:path>
            </a:pathLst>
          </a:custGeom>
          <a:blipFill>
            <a:blip r:embed="rId10"/>
            <a:stretch>
              <a:fillRect l="0" t="0" r="0" b="0"/>
            </a:stretch>
          </a:blipFill>
        </p:spPr>
      </p:sp>
      <p:sp>
        <p:nvSpPr>
          <p:cNvPr name="Freeform 10" id="10"/>
          <p:cNvSpPr/>
          <p:nvPr/>
        </p:nvSpPr>
        <p:spPr>
          <a:xfrm flipH="true" flipV="false" rot="0">
            <a:off x="14325600" y="8188536"/>
            <a:ext cx="5326813" cy="2558823"/>
          </a:xfrm>
          <a:custGeom>
            <a:avLst/>
            <a:gdLst/>
            <a:ahLst/>
            <a:cxnLst/>
            <a:rect r="r" b="b" t="t" l="l"/>
            <a:pathLst>
              <a:path h="2558823" w="5326813">
                <a:moveTo>
                  <a:pt x="5326813" y="0"/>
                </a:moveTo>
                <a:lnTo>
                  <a:pt x="0" y="0"/>
                </a:lnTo>
                <a:lnTo>
                  <a:pt x="0" y="2558823"/>
                </a:lnTo>
                <a:lnTo>
                  <a:pt x="5326813" y="2558823"/>
                </a:lnTo>
                <a:lnTo>
                  <a:pt x="5326813" y="0"/>
                </a:lnTo>
                <a:close/>
              </a:path>
            </a:pathLst>
          </a:custGeom>
          <a:blipFill>
            <a:blip r:embed="rId4">
              <a:alphaModFix amt="44999"/>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9034430">
            <a:off x="-2308021" y="8170245"/>
            <a:ext cx="6589372" cy="5223575"/>
          </a:xfrm>
          <a:custGeom>
            <a:avLst/>
            <a:gdLst/>
            <a:ahLst/>
            <a:cxnLst/>
            <a:rect r="r" b="b" t="t" l="l"/>
            <a:pathLst>
              <a:path h="5223575" w="6589372">
                <a:moveTo>
                  <a:pt x="0" y="0"/>
                </a:moveTo>
                <a:lnTo>
                  <a:pt x="6589372" y="0"/>
                </a:lnTo>
                <a:lnTo>
                  <a:pt x="6589372" y="5223575"/>
                </a:lnTo>
                <a:lnTo>
                  <a:pt x="0" y="5223575"/>
                </a:lnTo>
                <a:lnTo>
                  <a:pt x="0" y="0"/>
                </a:lnTo>
                <a:close/>
              </a:path>
            </a:pathLst>
          </a:custGeom>
          <a:blipFill>
            <a:blip r:embed="rId6">
              <a:alphaModFix amt="44999"/>
              <a:extLst>
                <a:ext uri="{96DAC541-7B7A-43D3-8B79-37D633B846F1}">
                  <asvg:svgBlip xmlns:asvg="http://schemas.microsoft.com/office/drawing/2016/SVG/main" r:embed="rId7"/>
                </a:ext>
              </a:extLst>
            </a:blip>
            <a:stretch>
              <a:fillRect l="0" t="0" r="0" b="0"/>
            </a:stretch>
          </a:blipFill>
        </p:spPr>
      </p:sp>
      <p:sp>
        <p:nvSpPr>
          <p:cNvPr name="AutoShape 12" id="12"/>
          <p:cNvSpPr/>
          <p:nvPr/>
        </p:nvSpPr>
        <p:spPr>
          <a:xfrm>
            <a:off x="9614965" y="1909860"/>
            <a:ext cx="0" cy="7558088"/>
          </a:xfrm>
          <a:prstGeom prst="line">
            <a:avLst/>
          </a:prstGeom>
          <a:ln cap="flat" w="38100">
            <a:solidFill>
              <a:srgbClr val="BBC5C0"/>
            </a:solidFill>
            <a:prstDash val="solid"/>
            <a:headEnd type="none" len="sm" w="sm"/>
            <a:tailEnd type="none" len="sm" w="sm"/>
          </a:ln>
        </p:spPr>
      </p:sp>
      <p:sp>
        <p:nvSpPr>
          <p:cNvPr name="Freeform 13" id="13"/>
          <p:cNvSpPr/>
          <p:nvPr/>
        </p:nvSpPr>
        <p:spPr>
          <a:xfrm flipH="false" flipV="false" rot="84055">
            <a:off x="16050519" y="8401050"/>
            <a:ext cx="1914525" cy="1914525"/>
          </a:xfrm>
          <a:custGeom>
            <a:avLst/>
            <a:gdLst/>
            <a:ahLst/>
            <a:cxnLst/>
            <a:rect r="r" b="b" t="t" l="l"/>
            <a:pathLst>
              <a:path h="1914525" w="1914525">
                <a:moveTo>
                  <a:pt x="0" y="0"/>
                </a:moveTo>
                <a:lnTo>
                  <a:pt x="1914525" y="0"/>
                </a:lnTo>
                <a:lnTo>
                  <a:pt x="1914525" y="1914525"/>
                </a:lnTo>
                <a:lnTo>
                  <a:pt x="0" y="191452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4" id="14"/>
          <p:cNvSpPr/>
          <p:nvPr/>
        </p:nvSpPr>
        <p:spPr>
          <a:xfrm flipH="false" flipV="false" rot="0">
            <a:off x="352063" y="8904456"/>
            <a:ext cx="1353273" cy="1203183"/>
          </a:xfrm>
          <a:custGeom>
            <a:avLst/>
            <a:gdLst/>
            <a:ahLst/>
            <a:cxnLst/>
            <a:rect r="r" b="b" t="t" l="l"/>
            <a:pathLst>
              <a:path h="1203183" w="1353273">
                <a:moveTo>
                  <a:pt x="0" y="0"/>
                </a:moveTo>
                <a:lnTo>
                  <a:pt x="1353274" y="0"/>
                </a:lnTo>
                <a:lnTo>
                  <a:pt x="1353274" y="1203183"/>
                </a:lnTo>
                <a:lnTo>
                  <a:pt x="0" y="120318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5" id="15"/>
          <p:cNvSpPr txBox="true"/>
          <p:nvPr/>
        </p:nvSpPr>
        <p:spPr>
          <a:xfrm rot="0">
            <a:off x="834265" y="6650384"/>
            <a:ext cx="4152813" cy="2197395"/>
          </a:xfrm>
          <a:prstGeom prst="rect">
            <a:avLst/>
          </a:prstGeom>
        </p:spPr>
        <p:txBody>
          <a:bodyPr anchor="t" rtlCol="false" tIns="0" lIns="0" bIns="0" rIns="0">
            <a:spAutoFit/>
          </a:bodyPr>
          <a:lstStyle/>
          <a:p>
            <a:pPr algn="just">
              <a:lnSpc>
                <a:spcPts val="2487"/>
              </a:lnSpc>
            </a:pPr>
            <a:r>
              <a:rPr lang="en-US" sz="1989">
                <a:solidFill>
                  <a:srgbClr val="3B2C5D"/>
                </a:solidFill>
                <a:latin typeface="ABeeZee"/>
                <a:ea typeface="ABeeZee"/>
                <a:cs typeface="ABeeZee"/>
                <a:sym typeface="ABeeZee"/>
              </a:rPr>
              <a:t>Boxplot menunjukkan bahwa seluruh 90 sampel memiliki pola distribusi yang relatif homogen dengan nilai median yang konsisten. Hal ini mengindikasikan bahwa proses normalisasi data telah dilakukan dengan baik.</a:t>
            </a:r>
          </a:p>
        </p:txBody>
      </p:sp>
      <p:sp>
        <p:nvSpPr>
          <p:cNvPr name="TextBox 16" id="16"/>
          <p:cNvSpPr txBox="true"/>
          <p:nvPr/>
        </p:nvSpPr>
        <p:spPr>
          <a:xfrm rot="0">
            <a:off x="1490412" y="962025"/>
            <a:ext cx="7022390" cy="555879"/>
          </a:xfrm>
          <a:prstGeom prst="rect">
            <a:avLst/>
          </a:prstGeom>
        </p:spPr>
        <p:txBody>
          <a:bodyPr anchor="t" rtlCol="false" tIns="0" lIns="0" bIns="0" rIns="0">
            <a:spAutoFit/>
          </a:bodyPr>
          <a:lstStyle/>
          <a:p>
            <a:pPr algn="l">
              <a:lnSpc>
                <a:spcPts val="4536"/>
              </a:lnSpc>
            </a:pPr>
            <a:r>
              <a:rPr lang="en-US" sz="3240">
                <a:solidFill>
                  <a:srgbClr val="3B2C5D"/>
                </a:solidFill>
                <a:latin typeface="Zen Dots"/>
                <a:ea typeface="Zen Dots"/>
                <a:cs typeface="Zen Dots"/>
                <a:sym typeface="Zen Dots"/>
              </a:rPr>
              <a:t>HASIL DAN PEMBAHASAN</a:t>
            </a:r>
          </a:p>
        </p:txBody>
      </p:sp>
      <p:sp>
        <p:nvSpPr>
          <p:cNvPr name="TextBox 17" id="17"/>
          <p:cNvSpPr txBox="true"/>
          <p:nvPr/>
        </p:nvSpPr>
        <p:spPr>
          <a:xfrm rot="0">
            <a:off x="5285028" y="6621809"/>
            <a:ext cx="3858972" cy="2511753"/>
          </a:xfrm>
          <a:prstGeom prst="rect">
            <a:avLst/>
          </a:prstGeom>
        </p:spPr>
        <p:txBody>
          <a:bodyPr anchor="t" rtlCol="false" tIns="0" lIns="0" bIns="0" rIns="0">
            <a:spAutoFit/>
          </a:bodyPr>
          <a:lstStyle/>
          <a:p>
            <a:pPr algn="just">
              <a:lnSpc>
                <a:spcPts val="2487"/>
              </a:lnSpc>
            </a:pPr>
            <a:r>
              <a:rPr lang="en-US" sz="1989">
                <a:solidFill>
                  <a:srgbClr val="3B2C5D"/>
                </a:solidFill>
                <a:latin typeface="ABeeZee"/>
                <a:ea typeface="ABeeZee"/>
                <a:cs typeface="ABeeZee"/>
                <a:sym typeface="ABeeZee"/>
              </a:rPr>
              <a:t>Dengan demikian, perbedaan ekspresi gen yang ditemukan dapat dianggap merepresentasikan variasi biologis yang nyata antara jaringan tumor dan jaringan normal, bukan disebabkan oleh perbedaan teknis pada data.</a:t>
            </a:r>
          </a:p>
        </p:txBody>
      </p:sp>
      <p:sp>
        <p:nvSpPr>
          <p:cNvPr name="TextBox 18" id="18"/>
          <p:cNvSpPr txBox="true"/>
          <p:nvPr/>
        </p:nvSpPr>
        <p:spPr>
          <a:xfrm rot="0">
            <a:off x="3155055" y="5842993"/>
            <a:ext cx="4259946" cy="311247"/>
          </a:xfrm>
          <a:prstGeom prst="rect">
            <a:avLst/>
          </a:prstGeom>
        </p:spPr>
        <p:txBody>
          <a:bodyPr anchor="t" rtlCol="false" tIns="0" lIns="0" bIns="0" rIns="0">
            <a:spAutoFit/>
          </a:bodyPr>
          <a:lstStyle/>
          <a:p>
            <a:pPr algn="just">
              <a:lnSpc>
                <a:spcPts val="2487"/>
              </a:lnSpc>
            </a:pPr>
            <a:r>
              <a:rPr lang="en-US" sz="1989">
                <a:solidFill>
                  <a:srgbClr val="3B2C5D"/>
                </a:solidFill>
                <a:latin typeface="ABeeZee Bold"/>
                <a:ea typeface="ABeeZee Bold"/>
                <a:cs typeface="ABeeZee Bold"/>
                <a:sym typeface="ABeeZee Bold"/>
              </a:rPr>
              <a:t>Gambar 1. Boxplot Distribusi</a:t>
            </a:r>
          </a:p>
        </p:txBody>
      </p:sp>
      <p:sp>
        <p:nvSpPr>
          <p:cNvPr name="TextBox 19" id="19"/>
          <p:cNvSpPr txBox="true"/>
          <p:nvPr/>
        </p:nvSpPr>
        <p:spPr>
          <a:xfrm rot="0">
            <a:off x="11271765" y="6621809"/>
            <a:ext cx="4778754" cy="311247"/>
          </a:xfrm>
          <a:prstGeom prst="rect">
            <a:avLst/>
          </a:prstGeom>
        </p:spPr>
        <p:txBody>
          <a:bodyPr anchor="t" rtlCol="false" tIns="0" lIns="0" bIns="0" rIns="0">
            <a:spAutoFit/>
          </a:bodyPr>
          <a:lstStyle/>
          <a:p>
            <a:pPr algn="ctr">
              <a:lnSpc>
                <a:spcPts val="2487"/>
              </a:lnSpc>
            </a:pPr>
            <a:r>
              <a:rPr lang="en-US" sz="1989">
                <a:solidFill>
                  <a:srgbClr val="3B2C5D"/>
                </a:solidFill>
                <a:latin typeface="ABeeZee Bold"/>
                <a:ea typeface="ABeeZee Bold"/>
                <a:cs typeface="ABeeZee Bold"/>
                <a:sym typeface="ABeeZee Bold"/>
              </a:rPr>
              <a:t>Gambar 2. Visulisasi UMAP</a:t>
            </a:r>
          </a:p>
        </p:txBody>
      </p:sp>
      <p:sp>
        <p:nvSpPr>
          <p:cNvPr name="TextBox 20" id="20"/>
          <p:cNvSpPr txBox="true"/>
          <p:nvPr/>
        </p:nvSpPr>
        <p:spPr>
          <a:xfrm rot="0">
            <a:off x="10333278" y="7104505"/>
            <a:ext cx="6655729" cy="1882839"/>
          </a:xfrm>
          <a:prstGeom prst="rect">
            <a:avLst/>
          </a:prstGeom>
        </p:spPr>
        <p:txBody>
          <a:bodyPr anchor="t" rtlCol="false" tIns="0" lIns="0" bIns="0" rIns="0">
            <a:spAutoFit/>
          </a:bodyPr>
          <a:lstStyle/>
          <a:p>
            <a:pPr algn="just">
              <a:lnSpc>
                <a:spcPts val="2487"/>
              </a:lnSpc>
            </a:pPr>
            <a:r>
              <a:rPr lang="en-US" sz="1989">
                <a:solidFill>
                  <a:srgbClr val="3B2C5D"/>
                </a:solidFill>
                <a:latin typeface="ABeeZee"/>
                <a:ea typeface="ABeeZee"/>
                <a:cs typeface="ABeeZee"/>
                <a:sym typeface="ABeeZee"/>
              </a:rPr>
              <a:t>Terdapat distribusi pola 45 sampel jaringan tumor dan 45 sampel jaringan non-tumor dari 45 pasien. Pola ini mengindikasikan adanya perbedaan profil transkriptomik yang cukup signifikan antara jaringan kanker dan jaringan normal sehingga analisis DEG dengan pendekatan paired dapat dilanjutkan.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1E5FF"/>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625540" y="-147540"/>
            <a:ext cx="3514920" cy="4114800"/>
          </a:xfrm>
          <a:custGeom>
            <a:avLst/>
            <a:gdLst/>
            <a:ahLst/>
            <a:cxnLst/>
            <a:rect r="r" b="b" t="t" l="l"/>
            <a:pathLst>
              <a:path h="4114800" w="3514920">
                <a:moveTo>
                  <a:pt x="0" y="0"/>
                </a:moveTo>
                <a:lnTo>
                  <a:pt x="3514920" y="0"/>
                </a:lnTo>
                <a:lnTo>
                  <a:pt x="3514920" y="4114800"/>
                </a:lnTo>
                <a:lnTo>
                  <a:pt x="0" y="4114800"/>
                </a:lnTo>
                <a:lnTo>
                  <a:pt x="0" y="0"/>
                </a:lnTo>
                <a:close/>
              </a:path>
            </a:pathLst>
          </a:custGeom>
          <a:blipFill>
            <a:blip r:embed="rId2">
              <a:alphaModFix amt="44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4473140" y="-299940"/>
            <a:ext cx="3514920" cy="4114800"/>
          </a:xfrm>
          <a:custGeom>
            <a:avLst/>
            <a:gdLst/>
            <a:ahLst/>
            <a:cxnLst/>
            <a:rect r="r" b="b" t="t" l="l"/>
            <a:pathLst>
              <a:path h="4114800" w="3514920">
                <a:moveTo>
                  <a:pt x="0" y="0"/>
                </a:moveTo>
                <a:lnTo>
                  <a:pt x="3514920" y="0"/>
                </a:lnTo>
                <a:lnTo>
                  <a:pt x="3514920" y="4114800"/>
                </a:lnTo>
                <a:lnTo>
                  <a:pt x="0" y="4114800"/>
                </a:lnTo>
                <a:lnTo>
                  <a:pt x="0" y="0"/>
                </a:lnTo>
                <a:close/>
              </a:path>
            </a:pathLst>
          </a:custGeom>
          <a:blipFill>
            <a:blip r:embed="rId2">
              <a:alphaModFix amt="44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173200" y="8036136"/>
            <a:ext cx="5326813" cy="2558823"/>
          </a:xfrm>
          <a:custGeom>
            <a:avLst/>
            <a:gdLst/>
            <a:ahLst/>
            <a:cxnLst/>
            <a:rect r="r" b="b" t="t" l="l"/>
            <a:pathLst>
              <a:path h="2558823" w="5326813">
                <a:moveTo>
                  <a:pt x="5326813" y="0"/>
                </a:moveTo>
                <a:lnTo>
                  <a:pt x="0" y="0"/>
                </a:lnTo>
                <a:lnTo>
                  <a:pt x="0" y="2558823"/>
                </a:lnTo>
                <a:lnTo>
                  <a:pt x="5326813" y="2558823"/>
                </a:lnTo>
                <a:lnTo>
                  <a:pt x="5326813" y="0"/>
                </a:lnTo>
                <a:close/>
              </a:path>
            </a:pathLst>
          </a:custGeom>
          <a:blipFill>
            <a:blip r:embed="rId4">
              <a:alphaModFix amt="44999"/>
              <a:extLst>
                <a:ext uri="{96DAC541-7B7A-43D3-8B79-37D633B846F1}">
                  <asvg:svgBlip xmlns:asvg="http://schemas.microsoft.com/office/drawing/2016/SVG/main" r:embed="rId5"/>
                </a:ext>
              </a:extLst>
            </a:blip>
            <a:stretch>
              <a:fillRect l="0" t="0" r="0" b="0"/>
            </a:stretch>
          </a:blipFill>
        </p:spPr>
      </p:sp>
      <p:sp>
        <p:nvSpPr>
          <p:cNvPr name="AutoShape 5" id="5"/>
          <p:cNvSpPr/>
          <p:nvPr/>
        </p:nvSpPr>
        <p:spPr>
          <a:xfrm>
            <a:off x="1490412" y="1738410"/>
            <a:ext cx="6891146" cy="19050"/>
          </a:xfrm>
          <a:prstGeom prst="line">
            <a:avLst/>
          </a:prstGeom>
          <a:ln cap="flat" w="38100">
            <a:solidFill>
              <a:srgbClr val="3B2C5D"/>
            </a:solidFill>
            <a:prstDash val="solid"/>
            <a:headEnd type="none" len="sm" w="sm"/>
            <a:tailEnd type="oval" len="lg" w="lg"/>
          </a:ln>
        </p:spPr>
      </p:sp>
      <p:sp>
        <p:nvSpPr>
          <p:cNvPr name="Freeform 6" id="6"/>
          <p:cNvSpPr/>
          <p:nvPr/>
        </p:nvSpPr>
        <p:spPr>
          <a:xfrm flipH="false" flipV="false" rot="-9034430">
            <a:off x="-2265986" y="8372164"/>
            <a:ext cx="6589372" cy="5223575"/>
          </a:xfrm>
          <a:custGeom>
            <a:avLst/>
            <a:gdLst/>
            <a:ahLst/>
            <a:cxnLst/>
            <a:rect r="r" b="b" t="t" l="l"/>
            <a:pathLst>
              <a:path h="5223575" w="6589372">
                <a:moveTo>
                  <a:pt x="0" y="0"/>
                </a:moveTo>
                <a:lnTo>
                  <a:pt x="6589372" y="0"/>
                </a:lnTo>
                <a:lnTo>
                  <a:pt x="6589372" y="5223575"/>
                </a:lnTo>
                <a:lnTo>
                  <a:pt x="0" y="5223575"/>
                </a:lnTo>
                <a:lnTo>
                  <a:pt x="0" y="0"/>
                </a:lnTo>
                <a:close/>
              </a:path>
            </a:pathLst>
          </a:custGeom>
          <a:blipFill>
            <a:blip r:embed="rId6">
              <a:alphaModFix amt="44999"/>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2464056" y="2273736"/>
            <a:ext cx="6821612" cy="5116209"/>
          </a:xfrm>
          <a:custGeom>
            <a:avLst/>
            <a:gdLst/>
            <a:ahLst/>
            <a:cxnLst/>
            <a:rect r="r" b="b" t="t" l="l"/>
            <a:pathLst>
              <a:path h="5116209" w="6821612">
                <a:moveTo>
                  <a:pt x="0" y="0"/>
                </a:moveTo>
                <a:lnTo>
                  <a:pt x="6821612" y="0"/>
                </a:lnTo>
                <a:lnTo>
                  <a:pt x="6821612" y="5116209"/>
                </a:lnTo>
                <a:lnTo>
                  <a:pt x="0" y="5116209"/>
                </a:lnTo>
                <a:lnTo>
                  <a:pt x="0" y="0"/>
                </a:lnTo>
                <a:close/>
              </a:path>
            </a:pathLst>
          </a:custGeom>
          <a:blipFill>
            <a:blip r:embed="rId8"/>
            <a:stretch>
              <a:fillRect l="0" t="0" r="0" b="0"/>
            </a:stretch>
          </a:blipFill>
          <a:ln w="38100" cap="sq">
            <a:solidFill>
              <a:srgbClr val="7C3D7C"/>
            </a:solidFill>
            <a:prstDash val="solid"/>
            <a:miter/>
          </a:ln>
        </p:spPr>
      </p:sp>
      <p:sp>
        <p:nvSpPr>
          <p:cNvPr name="TextBox 8" id="8"/>
          <p:cNvSpPr txBox="true"/>
          <p:nvPr/>
        </p:nvSpPr>
        <p:spPr>
          <a:xfrm rot="0">
            <a:off x="2273294" y="7925271"/>
            <a:ext cx="13741413" cy="939963"/>
          </a:xfrm>
          <a:prstGeom prst="rect">
            <a:avLst/>
          </a:prstGeom>
        </p:spPr>
        <p:txBody>
          <a:bodyPr anchor="t" rtlCol="false" tIns="0" lIns="0" bIns="0" rIns="0">
            <a:spAutoFit/>
          </a:bodyPr>
          <a:lstStyle/>
          <a:p>
            <a:pPr algn="l">
              <a:lnSpc>
                <a:spcPts val="2487"/>
              </a:lnSpc>
            </a:pPr>
            <a:r>
              <a:rPr lang="en-US" sz="1989">
                <a:solidFill>
                  <a:srgbClr val="3B2C5D"/>
                </a:solidFill>
                <a:latin typeface="ABeeZee"/>
                <a:ea typeface="ABeeZee"/>
                <a:cs typeface="ABeeZee"/>
                <a:sym typeface="ABeeZee"/>
              </a:rPr>
              <a:t>Jumlah ini sedikit lebih tinggi dibandingkan penelitian sebelumnya oleh He et al. (2019) yang menemukan 424 gen dari dataset yang sama. Perbedaan tersebut kemungkinan dipengaruhi oleh perbedaan alur analisis dan metode statistik yang digunakan.</a:t>
            </a:r>
          </a:p>
        </p:txBody>
      </p:sp>
      <p:sp>
        <p:nvSpPr>
          <p:cNvPr name="Freeform 9" id="9"/>
          <p:cNvSpPr/>
          <p:nvPr/>
        </p:nvSpPr>
        <p:spPr>
          <a:xfrm flipH="false" flipV="false" rot="-9034430">
            <a:off x="-2113586" y="8524564"/>
            <a:ext cx="6589372" cy="5223575"/>
          </a:xfrm>
          <a:custGeom>
            <a:avLst/>
            <a:gdLst/>
            <a:ahLst/>
            <a:cxnLst/>
            <a:rect r="r" b="b" t="t" l="l"/>
            <a:pathLst>
              <a:path h="5223575" w="6589372">
                <a:moveTo>
                  <a:pt x="0" y="0"/>
                </a:moveTo>
                <a:lnTo>
                  <a:pt x="6589372" y="0"/>
                </a:lnTo>
                <a:lnTo>
                  <a:pt x="6589372" y="5223575"/>
                </a:lnTo>
                <a:lnTo>
                  <a:pt x="0" y="5223575"/>
                </a:lnTo>
                <a:lnTo>
                  <a:pt x="0" y="0"/>
                </a:lnTo>
                <a:close/>
              </a:path>
            </a:pathLst>
          </a:custGeom>
          <a:blipFill>
            <a:blip r:embed="rId6">
              <a:alphaModFix amt="44999"/>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14325600" y="8188536"/>
            <a:ext cx="5326813" cy="2558823"/>
          </a:xfrm>
          <a:custGeom>
            <a:avLst/>
            <a:gdLst/>
            <a:ahLst/>
            <a:cxnLst/>
            <a:rect r="r" b="b" t="t" l="l"/>
            <a:pathLst>
              <a:path h="2558823" w="5326813">
                <a:moveTo>
                  <a:pt x="5326813" y="0"/>
                </a:moveTo>
                <a:lnTo>
                  <a:pt x="0" y="0"/>
                </a:lnTo>
                <a:lnTo>
                  <a:pt x="0" y="2558823"/>
                </a:lnTo>
                <a:lnTo>
                  <a:pt x="5326813" y="2558823"/>
                </a:lnTo>
                <a:lnTo>
                  <a:pt x="5326813" y="0"/>
                </a:lnTo>
                <a:close/>
              </a:path>
            </a:pathLst>
          </a:custGeom>
          <a:blipFill>
            <a:blip r:embed="rId4">
              <a:alphaModFix amt="44999"/>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true" rot="5400000">
            <a:off x="299940" y="-318990"/>
            <a:ext cx="3514920" cy="4114800"/>
          </a:xfrm>
          <a:custGeom>
            <a:avLst/>
            <a:gdLst/>
            <a:ahLst/>
            <a:cxnLst/>
            <a:rect r="r" b="b" t="t" l="l"/>
            <a:pathLst>
              <a:path h="4114800" w="3514920">
                <a:moveTo>
                  <a:pt x="0" y="4114800"/>
                </a:moveTo>
                <a:lnTo>
                  <a:pt x="3514920" y="4114800"/>
                </a:lnTo>
                <a:lnTo>
                  <a:pt x="3514920" y="0"/>
                </a:lnTo>
                <a:lnTo>
                  <a:pt x="0" y="0"/>
                </a:lnTo>
                <a:lnTo>
                  <a:pt x="0" y="4114800"/>
                </a:lnTo>
                <a:close/>
              </a:path>
            </a:pathLst>
          </a:custGeom>
          <a:blipFill>
            <a:blip r:embed="rId2">
              <a:alphaModFix amt="74000"/>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5737794" y="511640"/>
            <a:ext cx="2197625" cy="1762096"/>
          </a:xfrm>
          <a:custGeom>
            <a:avLst/>
            <a:gdLst/>
            <a:ahLst/>
            <a:cxnLst/>
            <a:rect r="r" b="b" t="t" l="l"/>
            <a:pathLst>
              <a:path h="1762096" w="2197625">
                <a:moveTo>
                  <a:pt x="0" y="0"/>
                </a:moveTo>
                <a:lnTo>
                  <a:pt x="2197625" y="0"/>
                </a:lnTo>
                <a:lnTo>
                  <a:pt x="2197625" y="1762096"/>
                </a:lnTo>
                <a:lnTo>
                  <a:pt x="0" y="176209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396005" y="6843299"/>
            <a:ext cx="2868461" cy="3529426"/>
          </a:xfrm>
          <a:custGeom>
            <a:avLst/>
            <a:gdLst/>
            <a:ahLst/>
            <a:cxnLst/>
            <a:rect r="r" b="b" t="t" l="l"/>
            <a:pathLst>
              <a:path h="3529426" w="2868461">
                <a:moveTo>
                  <a:pt x="0" y="0"/>
                </a:moveTo>
                <a:lnTo>
                  <a:pt x="2868460" y="0"/>
                </a:lnTo>
                <a:lnTo>
                  <a:pt x="2868460" y="3529426"/>
                </a:lnTo>
                <a:lnTo>
                  <a:pt x="0" y="352942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4" id="14"/>
          <p:cNvSpPr/>
          <p:nvPr/>
        </p:nvSpPr>
        <p:spPr>
          <a:xfrm flipH="false" flipV="false" rot="0">
            <a:off x="15505180" y="7454359"/>
            <a:ext cx="3337755" cy="2791577"/>
          </a:xfrm>
          <a:custGeom>
            <a:avLst/>
            <a:gdLst/>
            <a:ahLst/>
            <a:cxnLst/>
            <a:rect r="r" b="b" t="t" l="l"/>
            <a:pathLst>
              <a:path h="2791577" w="3337755">
                <a:moveTo>
                  <a:pt x="0" y="0"/>
                </a:moveTo>
                <a:lnTo>
                  <a:pt x="3337755" y="0"/>
                </a:lnTo>
                <a:lnTo>
                  <a:pt x="3337755" y="2791577"/>
                </a:lnTo>
                <a:lnTo>
                  <a:pt x="0" y="279157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5" id="15"/>
          <p:cNvSpPr txBox="true"/>
          <p:nvPr/>
        </p:nvSpPr>
        <p:spPr>
          <a:xfrm rot="0">
            <a:off x="1490412" y="962025"/>
            <a:ext cx="12878388" cy="555879"/>
          </a:xfrm>
          <a:prstGeom prst="rect">
            <a:avLst/>
          </a:prstGeom>
        </p:spPr>
        <p:txBody>
          <a:bodyPr anchor="t" rtlCol="false" tIns="0" lIns="0" bIns="0" rIns="0">
            <a:spAutoFit/>
          </a:bodyPr>
          <a:lstStyle/>
          <a:p>
            <a:pPr algn="l">
              <a:lnSpc>
                <a:spcPts val="4536"/>
              </a:lnSpc>
            </a:pPr>
            <a:r>
              <a:rPr lang="en-US" sz="3240">
                <a:solidFill>
                  <a:srgbClr val="3B2C5D"/>
                </a:solidFill>
                <a:latin typeface="Zen Dots"/>
                <a:ea typeface="Zen Dots"/>
                <a:cs typeface="Zen Dots"/>
                <a:sym typeface="Zen Dots"/>
              </a:rPr>
              <a:t>HASIL DAN PEMBAHASAN</a:t>
            </a:r>
          </a:p>
        </p:txBody>
      </p:sp>
      <p:sp>
        <p:nvSpPr>
          <p:cNvPr name="TextBox 16" id="16"/>
          <p:cNvSpPr txBox="true"/>
          <p:nvPr/>
        </p:nvSpPr>
        <p:spPr>
          <a:xfrm rot="0">
            <a:off x="9763122" y="2692989"/>
            <a:ext cx="5591302" cy="4397439"/>
          </a:xfrm>
          <a:prstGeom prst="rect">
            <a:avLst/>
          </a:prstGeom>
        </p:spPr>
        <p:txBody>
          <a:bodyPr anchor="t" rtlCol="false" tIns="0" lIns="0" bIns="0" rIns="0">
            <a:spAutoFit/>
          </a:bodyPr>
          <a:lstStyle/>
          <a:p>
            <a:pPr algn="just" marL="429640" indent="-214820" lvl="1">
              <a:lnSpc>
                <a:spcPts val="2487"/>
              </a:lnSpc>
              <a:buFont typeface="Arial"/>
              <a:buChar char="•"/>
            </a:pPr>
            <a:r>
              <a:rPr lang="en-US" sz="1989">
                <a:solidFill>
                  <a:srgbClr val="3B2C5D"/>
                </a:solidFill>
                <a:latin typeface="ABeeZee"/>
                <a:ea typeface="ABeeZee"/>
                <a:cs typeface="ABeeZee"/>
                <a:sym typeface="ABeeZee"/>
              </a:rPr>
              <a:t>Analisis DEG mengidentifikasi 496 gen berbeda yang terekspresi, yaitu 293 gen yang mengalami peningkatan ekspresi (</a:t>
            </a:r>
            <a:r>
              <a:rPr lang="en-US" sz="1989" i="true">
                <a:solidFill>
                  <a:srgbClr val="3B2C5D"/>
                </a:solidFill>
                <a:latin typeface="ABeeZee Italics"/>
                <a:ea typeface="ABeeZee Italics"/>
                <a:cs typeface="ABeeZee Italics"/>
                <a:sym typeface="ABeeZee Italics"/>
              </a:rPr>
              <a:t>upregulated</a:t>
            </a:r>
            <a:r>
              <a:rPr lang="en-US" sz="1989">
                <a:solidFill>
                  <a:srgbClr val="3B2C5D"/>
                </a:solidFill>
                <a:latin typeface="ABeeZee"/>
                <a:ea typeface="ABeeZee"/>
                <a:cs typeface="ABeeZee"/>
                <a:sym typeface="ABeeZee"/>
              </a:rPr>
              <a:t>) dan 203 gen yang mengalami penurunan ekspresi (</a:t>
            </a:r>
            <a:r>
              <a:rPr lang="en-US" sz="1989" i="true">
                <a:solidFill>
                  <a:srgbClr val="3B2C5D"/>
                </a:solidFill>
                <a:latin typeface="ABeeZee Italics"/>
                <a:ea typeface="ABeeZee Italics"/>
                <a:cs typeface="ABeeZee Italics"/>
                <a:sym typeface="ABeeZee Italics"/>
              </a:rPr>
              <a:t>downregulated</a:t>
            </a:r>
            <a:r>
              <a:rPr lang="en-US" sz="1989">
                <a:solidFill>
                  <a:srgbClr val="3B2C5D"/>
                </a:solidFill>
                <a:latin typeface="ABeeZee"/>
                <a:ea typeface="ABeeZee"/>
                <a:cs typeface="ABeeZee"/>
                <a:sym typeface="ABeeZee"/>
              </a:rPr>
              <a:t>).</a:t>
            </a:r>
          </a:p>
          <a:p>
            <a:pPr algn="just" marL="429640" indent="-214820" lvl="1">
              <a:lnSpc>
                <a:spcPts val="2487"/>
              </a:lnSpc>
              <a:buFont typeface="Arial"/>
              <a:buChar char="•"/>
            </a:pPr>
            <a:r>
              <a:rPr lang="en-US" sz="1989">
                <a:solidFill>
                  <a:srgbClr val="3B2C5D"/>
                </a:solidFill>
                <a:latin typeface="ABeeZee"/>
                <a:ea typeface="ABeeZee"/>
                <a:cs typeface="ABeeZee"/>
                <a:sym typeface="ABeeZee"/>
              </a:rPr>
              <a:t>Penelitian ini menggunakan package limma pada R dengan pendekatan empirical Bayes, yang memiliki sensitivitas lebih tinggi.</a:t>
            </a:r>
          </a:p>
          <a:p>
            <a:pPr algn="just" marL="429640" indent="-214820" lvl="1">
              <a:lnSpc>
                <a:spcPts val="2487"/>
              </a:lnSpc>
              <a:buFont typeface="Arial"/>
              <a:buChar char="•"/>
            </a:pPr>
            <a:r>
              <a:rPr lang="en-US" sz="1989">
                <a:solidFill>
                  <a:srgbClr val="3B2C5D"/>
                </a:solidFill>
                <a:latin typeface="ABeeZee"/>
                <a:ea typeface="ABeeZee"/>
                <a:cs typeface="ABeeZee"/>
                <a:sym typeface="ABeeZee"/>
              </a:rPr>
              <a:t>Dominasi gen upregulated menunjukkan adanya aktivasi berlebihan berbagai jalur biologis pada kanker pankreas seperti pertumbuhan tumor.</a:t>
            </a:r>
          </a:p>
        </p:txBody>
      </p:sp>
      <p:sp>
        <p:nvSpPr>
          <p:cNvPr name="TextBox 17" id="17"/>
          <p:cNvSpPr txBox="true"/>
          <p:nvPr/>
        </p:nvSpPr>
        <p:spPr>
          <a:xfrm rot="0">
            <a:off x="4121612" y="7444834"/>
            <a:ext cx="4259946" cy="311214"/>
          </a:xfrm>
          <a:prstGeom prst="rect">
            <a:avLst/>
          </a:prstGeom>
        </p:spPr>
        <p:txBody>
          <a:bodyPr anchor="t" rtlCol="false" tIns="0" lIns="0" bIns="0" rIns="0">
            <a:spAutoFit/>
          </a:bodyPr>
          <a:lstStyle/>
          <a:p>
            <a:pPr algn="just">
              <a:lnSpc>
                <a:spcPts val="2487"/>
              </a:lnSpc>
            </a:pPr>
            <a:r>
              <a:rPr lang="en-US" sz="1989">
                <a:solidFill>
                  <a:srgbClr val="3B2C5D"/>
                </a:solidFill>
                <a:latin typeface="ABeeZee Bold"/>
                <a:ea typeface="ABeeZee Bold"/>
                <a:cs typeface="ABeeZee Bold"/>
                <a:sym typeface="ABeeZee Bold"/>
              </a:rPr>
              <a:t>Gambar 3. Volcano Plot DEG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833653" y="1479001"/>
            <a:ext cx="5425647" cy="7713035"/>
            <a:chOff x="0" y="0"/>
            <a:chExt cx="1116388" cy="1587044"/>
          </a:xfrm>
        </p:grpSpPr>
        <p:sp>
          <p:nvSpPr>
            <p:cNvPr name="Freeform 3" id="3"/>
            <p:cNvSpPr/>
            <p:nvPr/>
          </p:nvSpPr>
          <p:spPr>
            <a:xfrm flipH="false" flipV="false" rot="0">
              <a:off x="0" y="0"/>
              <a:ext cx="1116388" cy="1587044"/>
            </a:xfrm>
            <a:custGeom>
              <a:avLst/>
              <a:gdLst/>
              <a:ahLst/>
              <a:cxnLst/>
              <a:rect r="r" b="b" t="t" l="l"/>
              <a:pathLst>
                <a:path h="1587044" w="1116388">
                  <a:moveTo>
                    <a:pt x="27869" y="0"/>
                  </a:moveTo>
                  <a:lnTo>
                    <a:pt x="1088519" y="0"/>
                  </a:lnTo>
                  <a:cubicBezTo>
                    <a:pt x="1103911" y="0"/>
                    <a:pt x="1116388" y="12478"/>
                    <a:pt x="1116388" y="27869"/>
                  </a:cubicBezTo>
                  <a:lnTo>
                    <a:pt x="1116388" y="1559175"/>
                  </a:lnTo>
                  <a:cubicBezTo>
                    <a:pt x="1116388" y="1566566"/>
                    <a:pt x="1113452" y="1573655"/>
                    <a:pt x="1108225" y="1578881"/>
                  </a:cubicBezTo>
                  <a:cubicBezTo>
                    <a:pt x="1102999" y="1584108"/>
                    <a:pt x="1095910" y="1587044"/>
                    <a:pt x="1088519" y="1587044"/>
                  </a:cubicBezTo>
                  <a:lnTo>
                    <a:pt x="27869" y="1587044"/>
                  </a:lnTo>
                  <a:cubicBezTo>
                    <a:pt x="12478" y="1587044"/>
                    <a:pt x="0" y="1574567"/>
                    <a:pt x="0" y="1559175"/>
                  </a:cubicBezTo>
                  <a:lnTo>
                    <a:pt x="0" y="27869"/>
                  </a:lnTo>
                  <a:cubicBezTo>
                    <a:pt x="0" y="12478"/>
                    <a:pt x="12478" y="0"/>
                    <a:pt x="27869" y="0"/>
                  </a:cubicBezTo>
                  <a:close/>
                </a:path>
              </a:pathLst>
            </a:custGeom>
            <a:solidFill>
              <a:srgbClr val="E6DDF1"/>
            </a:solidFill>
          </p:spPr>
        </p:sp>
        <p:sp>
          <p:nvSpPr>
            <p:cNvPr name="TextBox 4" id="4"/>
            <p:cNvSpPr txBox="true"/>
            <p:nvPr/>
          </p:nvSpPr>
          <p:spPr>
            <a:xfrm>
              <a:off x="0" y="-38100"/>
              <a:ext cx="1116388" cy="162514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5912706" y="5804092"/>
            <a:ext cx="11346594" cy="3454208"/>
            <a:chOff x="0" y="0"/>
            <a:chExt cx="2334690" cy="710742"/>
          </a:xfrm>
        </p:grpSpPr>
        <p:sp>
          <p:nvSpPr>
            <p:cNvPr name="Freeform 6" id="6"/>
            <p:cNvSpPr/>
            <p:nvPr/>
          </p:nvSpPr>
          <p:spPr>
            <a:xfrm flipH="false" flipV="false" rot="0">
              <a:off x="0" y="0"/>
              <a:ext cx="2334690" cy="710742"/>
            </a:xfrm>
            <a:custGeom>
              <a:avLst/>
              <a:gdLst/>
              <a:ahLst/>
              <a:cxnLst/>
              <a:rect r="r" b="b" t="t" l="l"/>
              <a:pathLst>
                <a:path h="710742" w="2334690">
                  <a:moveTo>
                    <a:pt x="13326" y="0"/>
                  </a:moveTo>
                  <a:lnTo>
                    <a:pt x="2321364" y="0"/>
                  </a:lnTo>
                  <a:cubicBezTo>
                    <a:pt x="2328724" y="0"/>
                    <a:pt x="2334690" y="5966"/>
                    <a:pt x="2334690" y="13326"/>
                  </a:cubicBezTo>
                  <a:lnTo>
                    <a:pt x="2334690" y="697416"/>
                  </a:lnTo>
                  <a:cubicBezTo>
                    <a:pt x="2334690" y="704776"/>
                    <a:pt x="2328724" y="710742"/>
                    <a:pt x="2321364" y="710742"/>
                  </a:cubicBezTo>
                  <a:lnTo>
                    <a:pt x="13326" y="710742"/>
                  </a:lnTo>
                  <a:cubicBezTo>
                    <a:pt x="5966" y="710742"/>
                    <a:pt x="0" y="704776"/>
                    <a:pt x="0" y="697416"/>
                  </a:cubicBezTo>
                  <a:lnTo>
                    <a:pt x="0" y="13326"/>
                  </a:lnTo>
                  <a:cubicBezTo>
                    <a:pt x="0" y="5966"/>
                    <a:pt x="5966" y="0"/>
                    <a:pt x="13326" y="0"/>
                  </a:cubicBezTo>
                  <a:close/>
                </a:path>
              </a:pathLst>
            </a:custGeom>
            <a:solidFill>
              <a:srgbClr val="E6DDF1"/>
            </a:solidFill>
          </p:spPr>
        </p:sp>
        <p:sp>
          <p:nvSpPr>
            <p:cNvPr name="TextBox 7" id="7"/>
            <p:cNvSpPr txBox="true"/>
            <p:nvPr/>
          </p:nvSpPr>
          <p:spPr>
            <a:xfrm>
              <a:off x="0" y="-38100"/>
              <a:ext cx="2334690" cy="74884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2514613" y="1857155"/>
            <a:ext cx="8877785" cy="3397199"/>
            <a:chOff x="0" y="0"/>
            <a:chExt cx="1826705" cy="699012"/>
          </a:xfrm>
        </p:grpSpPr>
        <p:sp>
          <p:nvSpPr>
            <p:cNvPr name="Freeform 9" id="9"/>
            <p:cNvSpPr/>
            <p:nvPr/>
          </p:nvSpPr>
          <p:spPr>
            <a:xfrm flipH="false" flipV="false" rot="0">
              <a:off x="0" y="0"/>
              <a:ext cx="1826705" cy="699012"/>
            </a:xfrm>
            <a:custGeom>
              <a:avLst/>
              <a:gdLst/>
              <a:ahLst/>
              <a:cxnLst/>
              <a:rect r="r" b="b" t="t" l="l"/>
              <a:pathLst>
                <a:path h="699012" w="1826705">
                  <a:moveTo>
                    <a:pt x="17032" y="0"/>
                  </a:moveTo>
                  <a:lnTo>
                    <a:pt x="1809672" y="0"/>
                  </a:lnTo>
                  <a:cubicBezTo>
                    <a:pt x="1819079" y="0"/>
                    <a:pt x="1826705" y="7626"/>
                    <a:pt x="1826705" y="17032"/>
                  </a:cubicBezTo>
                  <a:lnTo>
                    <a:pt x="1826705" y="681980"/>
                  </a:lnTo>
                  <a:cubicBezTo>
                    <a:pt x="1826705" y="686497"/>
                    <a:pt x="1824910" y="690829"/>
                    <a:pt x="1821716" y="694023"/>
                  </a:cubicBezTo>
                  <a:cubicBezTo>
                    <a:pt x="1818522" y="697218"/>
                    <a:pt x="1814190" y="699012"/>
                    <a:pt x="1809672" y="699012"/>
                  </a:cubicBezTo>
                  <a:lnTo>
                    <a:pt x="17032" y="699012"/>
                  </a:lnTo>
                  <a:cubicBezTo>
                    <a:pt x="12515" y="699012"/>
                    <a:pt x="8183" y="697218"/>
                    <a:pt x="4989" y="694023"/>
                  </a:cubicBezTo>
                  <a:cubicBezTo>
                    <a:pt x="1794" y="690829"/>
                    <a:pt x="0" y="686497"/>
                    <a:pt x="0" y="681980"/>
                  </a:cubicBezTo>
                  <a:lnTo>
                    <a:pt x="0" y="17032"/>
                  </a:lnTo>
                  <a:cubicBezTo>
                    <a:pt x="0" y="12515"/>
                    <a:pt x="1794" y="8183"/>
                    <a:pt x="4989" y="4989"/>
                  </a:cubicBezTo>
                  <a:cubicBezTo>
                    <a:pt x="8183" y="1794"/>
                    <a:pt x="12515" y="0"/>
                    <a:pt x="17032" y="0"/>
                  </a:cubicBezTo>
                  <a:close/>
                </a:path>
              </a:pathLst>
            </a:custGeom>
            <a:solidFill>
              <a:srgbClr val="E6DDF1"/>
            </a:solidFill>
          </p:spPr>
        </p:sp>
        <p:sp>
          <p:nvSpPr>
            <p:cNvPr name="TextBox 10" id="10"/>
            <p:cNvSpPr txBox="true"/>
            <p:nvPr/>
          </p:nvSpPr>
          <p:spPr>
            <a:xfrm>
              <a:off x="0" y="-38100"/>
              <a:ext cx="1826705" cy="737112"/>
            </a:xfrm>
            <a:prstGeom prst="rect">
              <a:avLst/>
            </a:prstGeom>
          </p:spPr>
          <p:txBody>
            <a:bodyPr anchor="ctr" rtlCol="false" tIns="50800" lIns="50800" bIns="50800" rIns="50800"/>
            <a:lstStyle/>
            <a:p>
              <a:pPr algn="ctr">
                <a:lnSpc>
                  <a:spcPts val="2659"/>
                </a:lnSpc>
              </a:pPr>
            </a:p>
          </p:txBody>
        </p:sp>
      </p:grpSp>
      <p:sp>
        <p:nvSpPr>
          <p:cNvPr name="AutoShape 11" id="11"/>
          <p:cNvSpPr/>
          <p:nvPr/>
        </p:nvSpPr>
        <p:spPr>
          <a:xfrm>
            <a:off x="1159182" y="1440901"/>
            <a:ext cx="6944308" cy="19050"/>
          </a:xfrm>
          <a:prstGeom prst="line">
            <a:avLst/>
          </a:prstGeom>
          <a:ln cap="flat" w="38100">
            <a:solidFill>
              <a:srgbClr val="3B2C5D"/>
            </a:solidFill>
            <a:prstDash val="solid"/>
            <a:headEnd type="none" len="sm" w="sm"/>
            <a:tailEnd type="oval" len="lg" w="lg"/>
          </a:ln>
        </p:spPr>
      </p:sp>
      <p:grpSp>
        <p:nvGrpSpPr>
          <p:cNvPr name="Group 12" id="12"/>
          <p:cNvGrpSpPr/>
          <p:nvPr/>
        </p:nvGrpSpPr>
        <p:grpSpPr>
          <a:xfrm rot="0">
            <a:off x="1159182" y="1857155"/>
            <a:ext cx="4341232" cy="7713035"/>
            <a:chOff x="0" y="0"/>
            <a:chExt cx="893258" cy="1587044"/>
          </a:xfrm>
        </p:grpSpPr>
        <p:sp>
          <p:nvSpPr>
            <p:cNvPr name="Freeform 13" id="13"/>
            <p:cNvSpPr/>
            <p:nvPr/>
          </p:nvSpPr>
          <p:spPr>
            <a:xfrm flipH="false" flipV="false" rot="0">
              <a:off x="0" y="0"/>
              <a:ext cx="893258" cy="1587044"/>
            </a:xfrm>
            <a:custGeom>
              <a:avLst/>
              <a:gdLst/>
              <a:ahLst/>
              <a:cxnLst/>
              <a:rect r="r" b="b" t="t" l="l"/>
              <a:pathLst>
                <a:path h="1587044" w="893258">
                  <a:moveTo>
                    <a:pt x="34831" y="0"/>
                  </a:moveTo>
                  <a:lnTo>
                    <a:pt x="858427" y="0"/>
                  </a:lnTo>
                  <a:cubicBezTo>
                    <a:pt x="877663" y="0"/>
                    <a:pt x="893258" y="15594"/>
                    <a:pt x="893258" y="34831"/>
                  </a:cubicBezTo>
                  <a:lnTo>
                    <a:pt x="893258" y="1552213"/>
                  </a:lnTo>
                  <a:cubicBezTo>
                    <a:pt x="893258" y="1571450"/>
                    <a:pt x="877663" y="1587044"/>
                    <a:pt x="858427" y="1587044"/>
                  </a:cubicBezTo>
                  <a:lnTo>
                    <a:pt x="34831" y="1587044"/>
                  </a:lnTo>
                  <a:cubicBezTo>
                    <a:pt x="15594" y="1587044"/>
                    <a:pt x="0" y="1571450"/>
                    <a:pt x="0" y="1552213"/>
                  </a:cubicBezTo>
                  <a:lnTo>
                    <a:pt x="0" y="34831"/>
                  </a:lnTo>
                  <a:cubicBezTo>
                    <a:pt x="0" y="15594"/>
                    <a:pt x="15594" y="0"/>
                    <a:pt x="34831" y="0"/>
                  </a:cubicBezTo>
                  <a:close/>
                </a:path>
              </a:pathLst>
            </a:custGeom>
            <a:solidFill>
              <a:srgbClr val="E6DDF1"/>
            </a:solidFill>
          </p:spPr>
        </p:sp>
        <p:sp>
          <p:nvSpPr>
            <p:cNvPr name="TextBox 14" id="14"/>
            <p:cNvSpPr txBox="true"/>
            <p:nvPr/>
          </p:nvSpPr>
          <p:spPr>
            <a:xfrm>
              <a:off x="0" y="-38100"/>
              <a:ext cx="893258" cy="1625144"/>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490464" y="2150762"/>
            <a:ext cx="3760804" cy="2633297"/>
          </a:xfrm>
          <a:custGeom>
            <a:avLst/>
            <a:gdLst/>
            <a:ahLst/>
            <a:cxnLst/>
            <a:rect r="r" b="b" t="t" l="l"/>
            <a:pathLst>
              <a:path h="2633297" w="3760804">
                <a:moveTo>
                  <a:pt x="0" y="0"/>
                </a:moveTo>
                <a:lnTo>
                  <a:pt x="3760804" y="0"/>
                </a:lnTo>
                <a:lnTo>
                  <a:pt x="3760804" y="2633297"/>
                </a:lnTo>
                <a:lnTo>
                  <a:pt x="0" y="2633297"/>
                </a:lnTo>
                <a:lnTo>
                  <a:pt x="0" y="0"/>
                </a:lnTo>
                <a:close/>
              </a:path>
            </a:pathLst>
          </a:custGeom>
          <a:blipFill>
            <a:blip r:embed="rId2"/>
            <a:stretch>
              <a:fillRect l="0" t="0" r="0" b="0"/>
            </a:stretch>
          </a:blipFill>
          <a:ln w="38100" cap="sq">
            <a:solidFill>
              <a:srgbClr val="7C3D7C"/>
            </a:solidFill>
            <a:prstDash val="solid"/>
            <a:miter/>
          </a:ln>
        </p:spPr>
      </p:sp>
      <p:sp>
        <p:nvSpPr>
          <p:cNvPr name="Freeform 16" id="16"/>
          <p:cNvSpPr/>
          <p:nvPr/>
        </p:nvSpPr>
        <p:spPr>
          <a:xfrm flipH="false" flipV="false" rot="0">
            <a:off x="12443253" y="5713673"/>
            <a:ext cx="4396154" cy="3078166"/>
          </a:xfrm>
          <a:custGeom>
            <a:avLst/>
            <a:gdLst/>
            <a:ahLst/>
            <a:cxnLst/>
            <a:rect r="r" b="b" t="t" l="l"/>
            <a:pathLst>
              <a:path h="3078166" w="4396154">
                <a:moveTo>
                  <a:pt x="0" y="0"/>
                </a:moveTo>
                <a:lnTo>
                  <a:pt x="4396154" y="0"/>
                </a:lnTo>
                <a:lnTo>
                  <a:pt x="4396154" y="3078166"/>
                </a:lnTo>
                <a:lnTo>
                  <a:pt x="0" y="3078166"/>
                </a:lnTo>
                <a:lnTo>
                  <a:pt x="0" y="0"/>
                </a:lnTo>
                <a:close/>
              </a:path>
            </a:pathLst>
          </a:custGeom>
          <a:blipFill>
            <a:blip r:embed="rId3"/>
            <a:stretch>
              <a:fillRect l="0" t="0" r="0" b="0"/>
            </a:stretch>
          </a:blipFill>
          <a:ln w="38100" cap="sq">
            <a:solidFill>
              <a:srgbClr val="7C3D7C"/>
            </a:solidFill>
            <a:prstDash val="solid"/>
            <a:miter/>
          </a:ln>
        </p:spPr>
      </p:sp>
      <p:sp>
        <p:nvSpPr>
          <p:cNvPr name="TextBox 17" id="17"/>
          <p:cNvSpPr txBox="true"/>
          <p:nvPr/>
        </p:nvSpPr>
        <p:spPr>
          <a:xfrm rot="0">
            <a:off x="1490464" y="5368654"/>
            <a:ext cx="3606455" cy="3961765"/>
          </a:xfrm>
          <a:prstGeom prst="rect">
            <a:avLst/>
          </a:prstGeom>
        </p:spPr>
        <p:txBody>
          <a:bodyPr anchor="t" rtlCol="false" tIns="0" lIns="0" bIns="0" rIns="0">
            <a:spAutoFit/>
          </a:bodyPr>
          <a:lstStyle/>
          <a:p>
            <a:pPr algn="just" marL="345439" indent="-172720" lvl="1">
              <a:lnSpc>
                <a:spcPts val="1999"/>
              </a:lnSpc>
              <a:buFont typeface="Arial"/>
              <a:buChar char="•"/>
            </a:pPr>
            <a:r>
              <a:rPr lang="en-US" sz="1599">
                <a:solidFill>
                  <a:srgbClr val="3B2C5D"/>
                </a:solidFill>
                <a:latin typeface="ABeeZee"/>
                <a:ea typeface="ABeeZee"/>
                <a:cs typeface="ABeeZee"/>
                <a:sym typeface="ABeeZee"/>
              </a:rPr>
              <a:t>Signifikansi cell-substrate adhesion dan </a:t>
            </a:r>
            <a:r>
              <a:rPr lang="en-US" sz="1599">
                <a:solidFill>
                  <a:srgbClr val="3B2C5D"/>
                </a:solidFill>
                <a:latin typeface="ABeeZee"/>
                <a:ea typeface="ABeeZee"/>
                <a:cs typeface="ABeeZee"/>
                <a:sym typeface="ABeeZee"/>
              </a:rPr>
              <a:t>cell</a:t>
            </a:r>
            <a:r>
              <a:rPr lang="en-US" sz="1599">
                <a:solidFill>
                  <a:srgbClr val="3B2C5D"/>
                </a:solidFill>
                <a:latin typeface="ABeeZee"/>
                <a:ea typeface="ABeeZee"/>
                <a:cs typeface="ABeeZee"/>
                <a:sym typeface="ABeeZee"/>
              </a:rPr>
              <a:t>-m</a:t>
            </a:r>
            <a:r>
              <a:rPr lang="en-US" sz="1599">
                <a:solidFill>
                  <a:srgbClr val="3B2C5D"/>
                </a:solidFill>
                <a:latin typeface="ABeeZee"/>
                <a:ea typeface="ABeeZee"/>
                <a:cs typeface="ABeeZee"/>
                <a:sym typeface="ABeeZee"/>
              </a:rPr>
              <a:t>atri</a:t>
            </a:r>
            <a:r>
              <a:rPr lang="en-US" sz="1599">
                <a:solidFill>
                  <a:srgbClr val="3B2C5D"/>
                </a:solidFill>
                <a:latin typeface="ABeeZee"/>
                <a:ea typeface="ABeeZee"/>
                <a:cs typeface="ABeeZee"/>
                <a:sym typeface="ABeeZee"/>
              </a:rPr>
              <a:t>x adhesion menunjukkan adanya perubahan interaksi sel kanker dengan lingkungan sekitarnya. Perubahan ini berkaitan dengan proses Epithelial-Mesenchymal Transition (EMT), yaitu perubahan sel menjadi lebih mudah bergerak dan invasif.</a:t>
            </a:r>
          </a:p>
          <a:p>
            <a:pPr algn="just" marL="345439" indent="-172720" lvl="1">
              <a:lnSpc>
                <a:spcPts val="1999"/>
              </a:lnSpc>
              <a:buFont typeface="Arial"/>
              <a:buChar char="•"/>
            </a:pPr>
            <a:r>
              <a:rPr lang="en-US" sz="1599">
                <a:solidFill>
                  <a:srgbClr val="3B2C5D"/>
                </a:solidFill>
                <a:latin typeface="ABeeZee"/>
                <a:ea typeface="ABeeZee"/>
                <a:cs typeface="ABeeZee"/>
                <a:sym typeface="ABeeZee"/>
              </a:rPr>
              <a:t>Hilangnya protein adhesi serta meningkatnya protein pendukung migrasi memungkinkan sel kanker lebih mudah menginvasi jaringan dan bermetastasis ke organ lain.</a:t>
            </a:r>
          </a:p>
        </p:txBody>
      </p:sp>
      <p:sp>
        <p:nvSpPr>
          <p:cNvPr name="Freeform 18" id="18"/>
          <p:cNvSpPr/>
          <p:nvPr/>
        </p:nvSpPr>
        <p:spPr>
          <a:xfrm flipH="false" flipV="false" rot="0">
            <a:off x="234788" y="8167562"/>
            <a:ext cx="1587824" cy="1953698"/>
          </a:xfrm>
          <a:custGeom>
            <a:avLst/>
            <a:gdLst/>
            <a:ahLst/>
            <a:cxnLst/>
            <a:rect r="r" b="b" t="t" l="l"/>
            <a:pathLst>
              <a:path h="1953698" w="1587824">
                <a:moveTo>
                  <a:pt x="0" y="0"/>
                </a:moveTo>
                <a:lnTo>
                  <a:pt x="1587824" y="0"/>
                </a:lnTo>
                <a:lnTo>
                  <a:pt x="1587824" y="1953698"/>
                </a:lnTo>
                <a:lnTo>
                  <a:pt x="0" y="19536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0">
            <a:off x="16394060" y="8606763"/>
            <a:ext cx="1730481" cy="1447311"/>
          </a:xfrm>
          <a:custGeom>
            <a:avLst/>
            <a:gdLst/>
            <a:ahLst/>
            <a:cxnLst/>
            <a:rect r="r" b="b" t="t" l="l"/>
            <a:pathLst>
              <a:path h="1447311" w="1730481">
                <a:moveTo>
                  <a:pt x="0" y="0"/>
                </a:moveTo>
                <a:lnTo>
                  <a:pt x="1730480" y="0"/>
                </a:lnTo>
                <a:lnTo>
                  <a:pt x="1730480" y="1447311"/>
                </a:lnTo>
                <a:lnTo>
                  <a:pt x="0" y="14473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 id="20"/>
          <p:cNvSpPr/>
          <p:nvPr/>
        </p:nvSpPr>
        <p:spPr>
          <a:xfrm flipH="false" flipV="false" rot="0">
            <a:off x="15898568" y="275300"/>
            <a:ext cx="2225973" cy="1890190"/>
          </a:xfrm>
          <a:custGeom>
            <a:avLst/>
            <a:gdLst/>
            <a:ahLst/>
            <a:cxnLst/>
            <a:rect r="r" b="b" t="t" l="l"/>
            <a:pathLst>
              <a:path h="1890190" w="2225973">
                <a:moveTo>
                  <a:pt x="0" y="0"/>
                </a:moveTo>
                <a:lnTo>
                  <a:pt x="2225972" y="0"/>
                </a:lnTo>
                <a:lnTo>
                  <a:pt x="2225972" y="1890190"/>
                </a:lnTo>
                <a:lnTo>
                  <a:pt x="0" y="189019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1" id="21"/>
          <p:cNvSpPr txBox="true"/>
          <p:nvPr/>
        </p:nvSpPr>
        <p:spPr>
          <a:xfrm rot="0">
            <a:off x="5500414" y="2141237"/>
            <a:ext cx="5560214" cy="247015"/>
          </a:xfrm>
          <a:prstGeom prst="rect">
            <a:avLst/>
          </a:prstGeom>
        </p:spPr>
        <p:txBody>
          <a:bodyPr anchor="t" rtlCol="false" tIns="0" lIns="0" bIns="0" rIns="0">
            <a:spAutoFit/>
          </a:bodyPr>
          <a:lstStyle/>
          <a:p>
            <a:pPr algn="l" marL="345439" indent="-172720" lvl="1">
              <a:lnSpc>
                <a:spcPts val="1999"/>
              </a:lnSpc>
              <a:buAutoNum type="arabicPeriod" startAt="1"/>
            </a:pPr>
            <a:r>
              <a:rPr lang="en-US" sz="1599">
                <a:solidFill>
                  <a:srgbClr val="3B2C5D"/>
                </a:solidFill>
                <a:latin typeface="ABeeZee Bold"/>
                <a:ea typeface="ABeeZee Bold"/>
                <a:cs typeface="ABeeZee Bold"/>
                <a:sym typeface="ABeeZee Bold"/>
              </a:rPr>
              <a:t>Remodeling matriks ekstraseluler (ECM)</a:t>
            </a:r>
          </a:p>
        </p:txBody>
      </p:sp>
      <p:sp>
        <p:nvSpPr>
          <p:cNvPr name="TextBox 22" id="22"/>
          <p:cNvSpPr txBox="true"/>
          <p:nvPr/>
        </p:nvSpPr>
        <p:spPr>
          <a:xfrm rot="0">
            <a:off x="1159182" y="664516"/>
            <a:ext cx="12878388" cy="555879"/>
          </a:xfrm>
          <a:prstGeom prst="rect">
            <a:avLst/>
          </a:prstGeom>
        </p:spPr>
        <p:txBody>
          <a:bodyPr anchor="t" rtlCol="false" tIns="0" lIns="0" bIns="0" rIns="0">
            <a:spAutoFit/>
          </a:bodyPr>
          <a:lstStyle/>
          <a:p>
            <a:pPr algn="l">
              <a:lnSpc>
                <a:spcPts val="4536"/>
              </a:lnSpc>
            </a:pPr>
            <a:r>
              <a:rPr lang="en-US" sz="3240">
                <a:solidFill>
                  <a:srgbClr val="3B2C5D"/>
                </a:solidFill>
                <a:latin typeface="Zen Dots"/>
                <a:ea typeface="Zen Dots"/>
                <a:cs typeface="Zen Dots"/>
                <a:sym typeface="Zen Dots"/>
              </a:rPr>
              <a:t>HASIL DAN PEMBAHASAN</a:t>
            </a:r>
          </a:p>
        </p:txBody>
      </p:sp>
      <p:sp>
        <p:nvSpPr>
          <p:cNvPr name="TextBox 23" id="23"/>
          <p:cNvSpPr txBox="true"/>
          <p:nvPr/>
        </p:nvSpPr>
        <p:spPr>
          <a:xfrm rot="0">
            <a:off x="12154576" y="1847630"/>
            <a:ext cx="5039484" cy="247015"/>
          </a:xfrm>
          <a:prstGeom prst="rect">
            <a:avLst/>
          </a:prstGeom>
        </p:spPr>
        <p:txBody>
          <a:bodyPr anchor="t" rtlCol="false" tIns="0" lIns="0" bIns="0" rIns="0">
            <a:spAutoFit/>
          </a:bodyPr>
          <a:lstStyle/>
          <a:p>
            <a:pPr algn="l" marL="345439" indent="-172720" lvl="1">
              <a:lnSpc>
                <a:spcPts val="1999"/>
              </a:lnSpc>
              <a:buAutoNum type="arabicPeriod" startAt="1"/>
            </a:pPr>
            <a:r>
              <a:rPr lang="en-US" sz="1599">
                <a:solidFill>
                  <a:srgbClr val="3B2C5D"/>
                </a:solidFill>
                <a:latin typeface="ABeeZee Bold"/>
                <a:ea typeface="ABeeZee Bold"/>
                <a:cs typeface="ABeeZee Bold"/>
                <a:sym typeface="ABeeZee Bold"/>
              </a:rPr>
              <a:t>Protein digestion and absorbtion</a:t>
            </a:r>
          </a:p>
        </p:txBody>
      </p:sp>
      <p:sp>
        <p:nvSpPr>
          <p:cNvPr name="TextBox 24" id="24"/>
          <p:cNvSpPr txBox="true"/>
          <p:nvPr/>
        </p:nvSpPr>
        <p:spPr>
          <a:xfrm rot="0">
            <a:off x="1301502" y="5007339"/>
            <a:ext cx="3795418" cy="247015"/>
          </a:xfrm>
          <a:prstGeom prst="rect">
            <a:avLst/>
          </a:prstGeom>
        </p:spPr>
        <p:txBody>
          <a:bodyPr anchor="t" rtlCol="false" tIns="0" lIns="0" bIns="0" rIns="0">
            <a:spAutoFit/>
          </a:bodyPr>
          <a:lstStyle/>
          <a:p>
            <a:pPr algn="l" marL="345439" indent="-172720" lvl="1">
              <a:lnSpc>
                <a:spcPts val="1999"/>
              </a:lnSpc>
              <a:buAutoNum type="arabicPeriod" startAt="1"/>
            </a:pPr>
            <a:r>
              <a:rPr lang="en-US" sz="1599">
                <a:solidFill>
                  <a:srgbClr val="3B2C5D"/>
                </a:solidFill>
                <a:latin typeface="ABeeZee Bold"/>
                <a:ea typeface="ABeeZee Bold"/>
                <a:cs typeface="ABeeZee Bold"/>
                <a:sym typeface="ABeeZee Bold"/>
              </a:rPr>
              <a:t>Adhesi Sel</a:t>
            </a:r>
          </a:p>
        </p:txBody>
      </p:sp>
      <p:sp>
        <p:nvSpPr>
          <p:cNvPr name="TextBox 25" id="25"/>
          <p:cNvSpPr txBox="true"/>
          <p:nvPr/>
        </p:nvSpPr>
        <p:spPr>
          <a:xfrm rot="0">
            <a:off x="5650792" y="2467725"/>
            <a:ext cx="5567960" cy="2475865"/>
          </a:xfrm>
          <a:prstGeom prst="rect">
            <a:avLst/>
          </a:prstGeom>
        </p:spPr>
        <p:txBody>
          <a:bodyPr anchor="t" rtlCol="false" tIns="0" lIns="0" bIns="0" rIns="0">
            <a:spAutoFit/>
          </a:bodyPr>
          <a:lstStyle/>
          <a:p>
            <a:pPr algn="just" marL="345439" indent="-172720" lvl="1">
              <a:lnSpc>
                <a:spcPts val="1999"/>
              </a:lnSpc>
              <a:buFont typeface="Arial"/>
              <a:buChar char="•"/>
            </a:pPr>
            <a:r>
              <a:rPr lang="en-US" sz="1599">
                <a:solidFill>
                  <a:srgbClr val="3B2C5D"/>
                </a:solidFill>
                <a:latin typeface="ABeeZee"/>
                <a:ea typeface="ABeeZee"/>
                <a:cs typeface="ABeeZee"/>
                <a:sym typeface="ABeeZee"/>
              </a:rPr>
              <a:t>Proses biologis yang paling dominan adalah ECM dan </a:t>
            </a:r>
            <a:r>
              <a:rPr lang="en-US" sz="1599" i="true">
                <a:solidFill>
                  <a:srgbClr val="3B2C5D"/>
                </a:solidFill>
                <a:latin typeface="ABeeZee Italics"/>
                <a:ea typeface="ABeeZee Italics"/>
                <a:cs typeface="ABeeZee Italics"/>
                <a:sym typeface="ABeeZee Italics"/>
              </a:rPr>
              <a:t>extracellular structure organization</a:t>
            </a:r>
            <a:r>
              <a:rPr lang="en-US" sz="1599">
                <a:solidFill>
                  <a:srgbClr val="3B2C5D"/>
                </a:solidFill>
                <a:latin typeface="ABeeZee"/>
                <a:ea typeface="ABeeZee"/>
                <a:cs typeface="ABeeZee"/>
                <a:sym typeface="ABeeZee"/>
              </a:rPr>
              <a:t> (ESM). </a:t>
            </a:r>
          </a:p>
          <a:p>
            <a:pPr algn="just" marL="345439" indent="-172720" lvl="1">
              <a:lnSpc>
                <a:spcPts val="1999"/>
              </a:lnSpc>
              <a:buFont typeface="Arial"/>
              <a:buChar char="•"/>
            </a:pPr>
            <a:r>
              <a:rPr lang="en-US" sz="1599">
                <a:solidFill>
                  <a:srgbClr val="3B2C5D"/>
                </a:solidFill>
                <a:latin typeface="ABeeZee"/>
                <a:ea typeface="ABeeZee"/>
                <a:cs typeface="ABeeZee"/>
                <a:sym typeface="ABeeZee"/>
              </a:rPr>
              <a:t>Hasil ini sesuai dengan karakteristik kanker pankreas tipe PDAC yang ditandai dengan desmoplasia, yaitu pembentukan stroma fibrotik padat di sekitar tumor. Kondisi ini mendukung pertumbuhan dan penyebaran sel kanker serta menghambat efektivitas terapi.</a:t>
            </a:r>
          </a:p>
          <a:p>
            <a:pPr algn="just" marL="345439" indent="-172720" lvl="1">
              <a:lnSpc>
                <a:spcPts val="1999"/>
              </a:lnSpc>
              <a:buFont typeface="Arial"/>
              <a:buChar char="•"/>
            </a:pPr>
            <a:r>
              <a:rPr lang="en-US" sz="1599">
                <a:solidFill>
                  <a:srgbClr val="3B2C5D"/>
                </a:solidFill>
                <a:latin typeface="ABeeZee"/>
                <a:ea typeface="ABeeZee"/>
                <a:cs typeface="ABeeZee"/>
                <a:sym typeface="ABeeZee"/>
              </a:rPr>
              <a:t>Identifikasi proses collagen fibril organization juga menunjukkan adanya deposisi kolagen berlebih sebagai komponen utama ECM.</a:t>
            </a:r>
          </a:p>
        </p:txBody>
      </p:sp>
      <p:sp>
        <p:nvSpPr>
          <p:cNvPr name="TextBox 26" id="26"/>
          <p:cNvSpPr txBox="true"/>
          <p:nvPr/>
        </p:nvSpPr>
        <p:spPr>
          <a:xfrm rot="0">
            <a:off x="6301594" y="6063045"/>
            <a:ext cx="5090804" cy="247015"/>
          </a:xfrm>
          <a:prstGeom prst="rect">
            <a:avLst/>
          </a:prstGeom>
        </p:spPr>
        <p:txBody>
          <a:bodyPr anchor="t" rtlCol="false" tIns="0" lIns="0" bIns="0" rIns="0">
            <a:spAutoFit/>
          </a:bodyPr>
          <a:lstStyle/>
          <a:p>
            <a:pPr algn="l" marL="345439" indent="-172720" lvl="1">
              <a:lnSpc>
                <a:spcPts val="1999"/>
              </a:lnSpc>
              <a:buAutoNum type="arabicPeriod" startAt="1"/>
            </a:pPr>
            <a:r>
              <a:rPr lang="en-US" sz="1599">
                <a:solidFill>
                  <a:srgbClr val="3B2C5D"/>
                </a:solidFill>
                <a:latin typeface="ABeeZee Bold"/>
                <a:ea typeface="ABeeZee Bold"/>
                <a:cs typeface="ABeeZee Bold"/>
                <a:sym typeface="ABeeZee Bold"/>
              </a:rPr>
              <a:t>Pancreatic secretion</a:t>
            </a:r>
          </a:p>
        </p:txBody>
      </p:sp>
      <p:sp>
        <p:nvSpPr>
          <p:cNvPr name="TextBox 27" id="27"/>
          <p:cNvSpPr txBox="true"/>
          <p:nvPr/>
        </p:nvSpPr>
        <p:spPr>
          <a:xfrm rot="0">
            <a:off x="12443253" y="2313059"/>
            <a:ext cx="4214117" cy="2971165"/>
          </a:xfrm>
          <a:prstGeom prst="rect">
            <a:avLst/>
          </a:prstGeom>
        </p:spPr>
        <p:txBody>
          <a:bodyPr anchor="t" rtlCol="false" tIns="0" lIns="0" bIns="0" rIns="0">
            <a:spAutoFit/>
          </a:bodyPr>
          <a:lstStyle/>
          <a:p>
            <a:pPr algn="just" marL="345439" indent="-172720" lvl="1">
              <a:lnSpc>
                <a:spcPts val="1999"/>
              </a:lnSpc>
              <a:buFont typeface="Arial"/>
              <a:buChar char="•"/>
            </a:pPr>
            <a:r>
              <a:rPr lang="en-US" sz="1599">
                <a:solidFill>
                  <a:srgbClr val="3B2C5D"/>
                </a:solidFill>
                <a:latin typeface="ABeeZee"/>
                <a:ea typeface="ABeeZee"/>
                <a:cs typeface="ABeeZee"/>
                <a:sym typeface="ABeeZee"/>
              </a:rPr>
              <a:t>Signifikansi jalur </a:t>
            </a:r>
            <a:r>
              <a:rPr lang="en-US" sz="1599" i="true">
                <a:solidFill>
                  <a:srgbClr val="3B2C5D"/>
                </a:solidFill>
                <a:latin typeface="ABeeZee Italics"/>
                <a:ea typeface="ABeeZee Italics"/>
                <a:cs typeface="ABeeZee Italics"/>
                <a:sym typeface="ABeeZee Italics"/>
              </a:rPr>
              <a:t>protein digestion and</a:t>
            </a:r>
            <a:r>
              <a:rPr lang="en-US" sz="1599" i="true">
                <a:solidFill>
                  <a:srgbClr val="3B2C5D"/>
                </a:solidFill>
                <a:latin typeface="ABeeZee Italics"/>
                <a:ea typeface="ABeeZee Italics"/>
                <a:cs typeface="ABeeZee Italics"/>
                <a:sym typeface="ABeeZee Italics"/>
              </a:rPr>
              <a:t> absorption</a:t>
            </a:r>
            <a:r>
              <a:rPr lang="en-US" sz="1599">
                <a:solidFill>
                  <a:srgbClr val="3B2C5D"/>
                </a:solidFill>
                <a:latin typeface="ABeeZee"/>
                <a:ea typeface="ABeeZee"/>
                <a:cs typeface="ABeeZee"/>
                <a:sym typeface="ABeeZee"/>
              </a:rPr>
              <a:t> menunjukkan adanya perubahan besar dari fungsi pankreas normal menuju lingkungan tumor.</a:t>
            </a:r>
          </a:p>
          <a:p>
            <a:pPr algn="just" marL="345439" indent="-172720" lvl="1">
              <a:lnSpc>
                <a:spcPts val="1999"/>
              </a:lnSpc>
              <a:buFont typeface="Arial"/>
              <a:buChar char="•"/>
            </a:pPr>
            <a:r>
              <a:rPr lang="en-US" sz="1599">
                <a:solidFill>
                  <a:srgbClr val="3B2C5D"/>
                </a:solidFill>
                <a:latin typeface="ABeeZee"/>
                <a:ea typeface="ABeeZee"/>
                <a:cs typeface="ABeeZee"/>
                <a:sym typeface="ABeeZee"/>
              </a:rPr>
              <a:t>Penurunan gen enzim pencernaan mengindikasikan hilangnya fungsi eksokrin, sedangkan peningkatan gen kolagen mencerminkan pembentukan stroma fibrotik (desmoplasia). Perubahan ini mendukung remodeling jaringan dan perkembangan kanker pankreas.</a:t>
            </a:r>
          </a:p>
        </p:txBody>
      </p:sp>
      <p:sp>
        <p:nvSpPr>
          <p:cNvPr name="TextBox 28" id="28"/>
          <p:cNvSpPr txBox="true"/>
          <p:nvPr/>
        </p:nvSpPr>
        <p:spPr>
          <a:xfrm rot="0">
            <a:off x="6468957" y="6437434"/>
            <a:ext cx="5699539" cy="2475865"/>
          </a:xfrm>
          <a:prstGeom prst="rect">
            <a:avLst/>
          </a:prstGeom>
        </p:spPr>
        <p:txBody>
          <a:bodyPr anchor="t" rtlCol="false" tIns="0" lIns="0" bIns="0" rIns="0">
            <a:spAutoFit/>
          </a:bodyPr>
          <a:lstStyle/>
          <a:p>
            <a:pPr algn="just" marL="345439" indent="-172720" lvl="1">
              <a:lnSpc>
                <a:spcPts val="1999"/>
              </a:lnSpc>
              <a:buFont typeface="Arial"/>
              <a:buChar char="•"/>
            </a:pPr>
            <a:r>
              <a:rPr lang="en-US" sz="1599">
                <a:solidFill>
                  <a:srgbClr val="3B2C5D"/>
                </a:solidFill>
                <a:latin typeface="ABeeZee"/>
                <a:ea typeface="ABeeZee"/>
                <a:cs typeface="ABeeZee"/>
                <a:sym typeface="ABeeZee"/>
              </a:rPr>
              <a:t>Jalur pancreatic secretion menunjukkan signifikansi tertinggi, namun</a:t>
            </a:r>
            <a:r>
              <a:rPr lang="en-US" sz="1599">
                <a:solidFill>
                  <a:srgbClr val="3B2C5D"/>
                </a:solidFill>
                <a:latin typeface="ABeeZee"/>
                <a:ea typeface="ABeeZee"/>
                <a:cs typeface="ABeeZee"/>
                <a:sym typeface="ABeeZee"/>
              </a:rPr>
              <a:t> lebih mencerminkan penurunan gen eksokrin pankreas akibat proses </a:t>
            </a:r>
            <a:r>
              <a:rPr lang="en-US" sz="1599" i="true">
                <a:solidFill>
                  <a:srgbClr val="3B2C5D"/>
                </a:solidFill>
                <a:latin typeface="ABeeZee Italics"/>
                <a:ea typeface="ABeeZee Italics"/>
                <a:cs typeface="ABeeZee Italics"/>
                <a:sym typeface="ABeeZee Italics"/>
              </a:rPr>
              <a:t>Acinar-to-Ductal Metaplasia</a:t>
            </a:r>
            <a:r>
              <a:rPr lang="en-US" sz="1599">
                <a:solidFill>
                  <a:srgbClr val="3B2C5D"/>
                </a:solidFill>
                <a:latin typeface="ABeeZee"/>
                <a:ea typeface="ABeeZee"/>
                <a:cs typeface="ABeeZee"/>
                <a:sym typeface="ABeeZee"/>
              </a:rPr>
              <a:t> (ADM).</a:t>
            </a:r>
          </a:p>
          <a:p>
            <a:pPr algn="just" marL="345439" indent="-172720" lvl="1">
              <a:lnSpc>
                <a:spcPts val="1999"/>
              </a:lnSpc>
              <a:buFont typeface="Arial"/>
              <a:buChar char="•"/>
            </a:pPr>
            <a:r>
              <a:rPr lang="en-US" sz="1599">
                <a:solidFill>
                  <a:srgbClr val="3B2C5D"/>
                </a:solidFill>
                <a:latin typeface="ABeeZee"/>
                <a:ea typeface="ABeeZee"/>
                <a:cs typeface="ABeeZee"/>
                <a:sym typeface="ABeeZee"/>
              </a:rPr>
              <a:t>P</a:t>
            </a:r>
            <a:r>
              <a:rPr lang="en-US" sz="1599">
                <a:solidFill>
                  <a:srgbClr val="3B2C5D"/>
                </a:solidFill>
                <a:latin typeface="ABeeZee"/>
                <a:ea typeface="ABeeZee"/>
                <a:cs typeface="ABeeZee"/>
                <a:sym typeface="ABeeZee"/>
              </a:rPr>
              <a:t>erubahan pada jalur ini menunjukkan pergeseran fungsi pankreas normal menuju lingkungan tumor. Penurunan gen enzim pencernaan disertai peningkatan gen kolagen mengindikasikan hilangnya fungsi eksokrin dan terbentuknya stroma fibrotik (desmoplasia) yang mendukung progresi kanker.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006015" y="3183031"/>
            <a:ext cx="4897342" cy="4831392"/>
            <a:chOff x="0" y="0"/>
            <a:chExt cx="1289835" cy="1272465"/>
          </a:xfrm>
        </p:grpSpPr>
        <p:sp>
          <p:nvSpPr>
            <p:cNvPr name="Freeform 3" id="3"/>
            <p:cNvSpPr/>
            <p:nvPr/>
          </p:nvSpPr>
          <p:spPr>
            <a:xfrm flipH="false" flipV="false" rot="0">
              <a:off x="0" y="0"/>
              <a:ext cx="1289835" cy="1272466"/>
            </a:xfrm>
            <a:custGeom>
              <a:avLst/>
              <a:gdLst/>
              <a:ahLst/>
              <a:cxnLst/>
              <a:rect r="r" b="b" t="t" l="l"/>
              <a:pathLst>
                <a:path h="1272466" w="1289835">
                  <a:moveTo>
                    <a:pt x="80623" y="0"/>
                  </a:moveTo>
                  <a:lnTo>
                    <a:pt x="1209212" y="0"/>
                  </a:lnTo>
                  <a:cubicBezTo>
                    <a:pt x="1230594" y="0"/>
                    <a:pt x="1251101" y="8494"/>
                    <a:pt x="1266221" y="23614"/>
                  </a:cubicBezTo>
                  <a:cubicBezTo>
                    <a:pt x="1281341" y="38734"/>
                    <a:pt x="1289835" y="59240"/>
                    <a:pt x="1289835" y="80623"/>
                  </a:cubicBezTo>
                  <a:lnTo>
                    <a:pt x="1289835" y="1191843"/>
                  </a:lnTo>
                  <a:cubicBezTo>
                    <a:pt x="1289835" y="1236369"/>
                    <a:pt x="1253739" y="1272466"/>
                    <a:pt x="1209212" y="1272466"/>
                  </a:cubicBezTo>
                  <a:lnTo>
                    <a:pt x="80623" y="1272466"/>
                  </a:lnTo>
                  <a:cubicBezTo>
                    <a:pt x="36096" y="1272466"/>
                    <a:pt x="0" y="1236369"/>
                    <a:pt x="0" y="1191843"/>
                  </a:cubicBezTo>
                  <a:lnTo>
                    <a:pt x="0" y="80623"/>
                  </a:lnTo>
                  <a:cubicBezTo>
                    <a:pt x="0" y="36096"/>
                    <a:pt x="36096" y="0"/>
                    <a:pt x="80623" y="0"/>
                  </a:cubicBezTo>
                  <a:close/>
                </a:path>
              </a:pathLst>
            </a:custGeom>
            <a:solidFill>
              <a:srgbClr val="C8B3DF">
                <a:alpha val="44706"/>
              </a:srgbClr>
            </a:solidFill>
          </p:spPr>
        </p:sp>
        <p:sp>
          <p:nvSpPr>
            <p:cNvPr name="TextBox 4" id="4"/>
            <p:cNvSpPr txBox="true"/>
            <p:nvPr/>
          </p:nvSpPr>
          <p:spPr>
            <a:xfrm>
              <a:off x="0" y="-38100"/>
              <a:ext cx="1289835" cy="131056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109881" y="-2374527"/>
            <a:ext cx="4219763" cy="3989594"/>
          </a:xfrm>
          <a:custGeom>
            <a:avLst/>
            <a:gdLst/>
            <a:ahLst/>
            <a:cxnLst/>
            <a:rect r="r" b="b" t="t" l="l"/>
            <a:pathLst>
              <a:path h="3989594" w="4219763">
                <a:moveTo>
                  <a:pt x="0" y="0"/>
                </a:moveTo>
                <a:lnTo>
                  <a:pt x="4219762" y="0"/>
                </a:lnTo>
                <a:lnTo>
                  <a:pt x="4219762" y="3989594"/>
                </a:lnTo>
                <a:lnTo>
                  <a:pt x="0" y="3989594"/>
                </a:lnTo>
                <a:lnTo>
                  <a:pt x="0" y="0"/>
                </a:lnTo>
                <a:close/>
              </a:path>
            </a:pathLst>
          </a:custGeom>
          <a:blipFill>
            <a:blip r:embed="rId2">
              <a:alphaModFix amt="44999"/>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2540770" y="2624212"/>
            <a:ext cx="3827832" cy="365760"/>
          </a:xfrm>
          <a:prstGeom prst="rect">
            <a:avLst/>
          </a:prstGeom>
        </p:spPr>
        <p:txBody>
          <a:bodyPr anchor="t" rtlCol="false" tIns="0" lIns="0" bIns="0" rIns="0">
            <a:spAutoFit/>
          </a:bodyPr>
          <a:lstStyle/>
          <a:p>
            <a:pPr algn="ctr">
              <a:lnSpc>
                <a:spcPts val="2940"/>
              </a:lnSpc>
            </a:pPr>
            <a:r>
              <a:rPr lang="en-US" sz="2100">
                <a:solidFill>
                  <a:srgbClr val="3B2C5D"/>
                </a:solidFill>
                <a:latin typeface="Zen Dots"/>
                <a:ea typeface="Zen Dots"/>
                <a:cs typeface="Zen Dots"/>
                <a:sym typeface="Zen Dots"/>
              </a:rPr>
              <a:t>DAFTAR PUSTAKA</a:t>
            </a:r>
          </a:p>
        </p:txBody>
      </p:sp>
      <p:sp>
        <p:nvSpPr>
          <p:cNvPr name="Freeform 7" id="7"/>
          <p:cNvSpPr/>
          <p:nvPr/>
        </p:nvSpPr>
        <p:spPr>
          <a:xfrm flipH="false" flipV="false" rot="0">
            <a:off x="15975418" y="-2374527"/>
            <a:ext cx="4219763" cy="3989594"/>
          </a:xfrm>
          <a:custGeom>
            <a:avLst/>
            <a:gdLst/>
            <a:ahLst/>
            <a:cxnLst/>
            <a:rect r="r" b="b" t="t" l="l"/>
            <a:pathLst>
              <a:path h="3989594" w="4219763">
                <a:moveTo>
                  <a:pt x="0" y="0"/>
                </a:moveTo>
                <a:lnTo>
                  <a:pt x="4219763" y="0"/>
                </a:lnTo>
                <a:lnTo>
                  <a:pt x="4219763" y="3989594"/>
                </a:lnTo>
                <a:lnTo>
                  <a:pt x="0" y="3989594"/>
                </a:lnTo>
                <a:lnTo>
                  <a:pt x="0" y="0"/>
                </a:lnTo>
                <a:close/>
              </a:path>
            </a:pathLst>
          </a:custGeom>
          <a:blipFill>
            <a:blip r:embed="rId2">
              <a:alphaModFix amt="44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6178119" y="8678313"/>
            <a:ext cx="4219763" cy="3989594"/>
          </a:xfrm>
          <a:custGeom>
            <a:avLst/>
            <a:gdLst/>
            <a:ahLst/>
            <a:cxnLst/>
            <a:rect r="r" b="b" t="t" l="l"/>
            <a:pathLst>
              <a:path h="3989594" w="4219763">
                <a:moveTo>
                  <a:pt x="0" y="0"/>
                </a:moveTo>
                <a:lnTo>
                  <a:pt x="4219762" y="0"/>
                </a:lnTo>
                <a:lnTo>
                  <a:pt x="4219762" y="3989594"/>
                </a:lnTo>
                <a:lnTo>
                  <a:pt x="0" y="3989594"/>
                </a:lnTo>
                <a:lnTo>
                  <a:pt x="0" y="0"/>
                </a:lnTo>
                <a:close/>
              </a:path>
            </a:pathLst>
          </a:custGeom>
          <a:blipFill>
            <a:blip r:embed="rId2">
              <a:alphaModFix amt="44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395158" y="3539145"/>
            <a:ext cx="4122828" cy="4122828"/>
          </a:xfrm>
          <a:custGeom>
            <a:avLst/>
            <a:gdLst/>
            <a:ahLst/>
            <a:cxnLst/>
            <a:rect r="r" b="b" t="t" l="l"/>
            <a:pathLst>
              <a:path h="4122828" w="4122828">
                <a:moveTo>
                  <a:pt x="0" y="0"/>
                </a:moveTo>
                <a:lnTo>
                  <a:pt x="4122828" y="0"/>
                </a:lnTo>
                <a:lnTo>
                  <a:pt x="4122828" y="4122828"/>
                </a:lnTo>
                <a:lnTo>
                  <a:pt x="0" y="4122828"/>
                </a:lnTo>
                <a:lnTo>
                  <a:pt x="0" y="0"/>
                </a:lnTo>
                <a:close/>
              </a:path>
            </a:pathLst>
          </a:custGeom>
          <a:blipFill>
            <a:blip r:embed="rId4"/>
            <a:stretch>
              <a:fillRect l="0" t="0" r="0" b="0"/>
            </a:stretch>
          </a:blipFill>
        </p:spPr>
      </p:sp>
      <p:grpSp>
        <p:nvGrpSpPr>
          <p:cNvPr name="Group 10" id="10"/>
          <p:cNvGrpSpPr/>
          <p:nvPr/>
        </p:nvGrpSpPr>
        <p:grpSpPr>
          <a:xfrm rot="0">
            <a:off x="1596812" y="2007948"/>
            <a:ext cx="9390855" cy="6670365"/>
            <a:chOff x="0" y="0"/>
            <a:chExt cx="1932275" cy="1372503"/>
          </a:xfrm>
        </p:grpSpPr>
        <p:sp>
          <p:nvSpPr>
            <p:cNvPr name="Freeform 11" id="11"/>
            <p:cNvSpPr/>
            <p:nvPr/>
          </p:nvSpPr>
          <p:spPr>
            <a:xfrm flipH="false" flipV="false" rot="0">
              <a:off x="0" y="0"/>
              <a:ext cx="1932275" cy="1372503"/>
            </a:xfrm>
            <a:custGeom>
              <a:avLst/>
              <a:gdLst/>
              <a:ahLst/>
              <a:cxnLst/>
              <a:rect r="r" b="b" t="t" l="l"/>
              <a:pathLst>
                <a:path h="1372503" w="1932275">
                  <a:moveTo>
                    <a:pt x="16102" y="0"/>
                  </a:moveTo>
                  <a:lnTo>
                    <a:pt x="1916173" y="0"/>
                  </a:lnTo>
                  <a:cubicBezTo>
                    <a:pt x="1920443" y="0"/>
                    <a:pt x="1924539" y="1696"/>
                    <a:pt x="1927559" y="4716"/>
                  </a:cubicBezTo>
                  <a:cubicBezTo>
                    <a:pt x="1930578" y="7736"/>
                    <a:pt x="1932275" y="11831"/>
                    <a:pt x="1932275" y="16102"/>
                  </a:cubicBezTo>
                  <a:lnTo>
                    <a:pt x="1932275" y="1356401"/>
                  </a:lnTo>
                  <a:cubicBezTo>
                    <a:pt x="1932275" y="1360672"/>
                    <a:pt x="1930578" y="1364767"/>
                    <a:pt x="1927559" y="1367787"/>
                  </a:cubicBezTo>
                  <a:cubicBezTo>
                    <a:pt x="1924539" y="1370807"/>
                    <a:pt x="1920443" y="1372503"/>
                    <a:pt x="1916173" y="1372503"/>
                  </a:cubicBezTo>
                  <a:lnTo>
                    <a:pt x="16102" y="1372503"/>
                  </a:lnTo>
                  <a:cubicBezTo>
                    <a:pt x="11831" y="1372503"/>
                    <a:pt x="7736" y="1370807"/>
                    <a:pt x="4716" y="1367787"/>
                  </a:cubicBezTo>
                  <a:cubicBezTo>
                    <a:pt x="1696" y="1364767"/>
                    <a:pt x="0" y="1360672"/>
                    <a:pt x="0" y="1356401"/>
                  </a:cubicBezTo>
                  <a:lnTo>
                    <a:pt x="0" y="16102"/>
                  </a:lnTo>
                  <a:cubicBezTo>
                    <a:pt x="0" y="11831"/>
                    <a:pt x="1696" y="7736"/>
                    <a:pt x="4716" y="4716"/>
                  </a:cubicBezTo>
                  <a:cubicBezTo>
                    <a:pt x="7736" y="1696"/>
                    <a:pt x="11831" y="0"/>
                    <a:pt x="16102" y="0"/>
                  </a:cubicBezTo>
                  <a:close/>
                </a:path>
              </a:pathLst>
            </a:custGeom>
            <a:solidFill>
              <a:srgbClr val="E6DDF1"/>
            </a:solidFill>
          </p:spPr>
        </p:sp>
        <p:sp>
          <p:nvSpPr>
            <p:cNvPr name="TextBox 12" id="12"/>
            <p:cNvSpPr txBox="true"/>
            <p:nvPr/>
          </p:nvSpPr>
          <p:spPr>
            <a:xfrm>
              <a:off x="0" y="-38100"/>
              <a:ext cx="1932275" cy="1410603"/>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3518931" y="2914653"/>
            <a:ext cx="5546616" cy="555879"/>
          </a:xfrm>
          <a:prstGeom prst="rect">
            <a:avLst/>
          </a:prstGeom>
        </p:spPr>
        <p:txBody>
          <a:bodyPr anchor="t" rtlCol="false" tIns="0" lIns="0" bIns="0" rIns="0">
            <a:spAutoFit/>
          </a:bodyPr>
          <a:lstStyle/>
          <a:p>
            <a:pPr algn="ctr">
              <a:lnSpc>
                <a:spcPts val="4536"/>
              </a:lnSpc>
            </a:pPr>
            <a:r>
              <a:rPr lang="en-US" sz="3240">
                <a:solidFill>
                  <a:srgbClr val="3B2C5D"/>
                </a:solidFill>
                <a:latin typeface="Zen Dots"/>
                <a:ea typeface="Zen Dots"/>
                <a:cs typeface="Zen Dots"/>
                <a:sym typeface="Zen Dots"/>
              </a:rPr>
              <a:t>KESIMPULAN</a:t>
            </a:r>
          </a:p>
        </p:txBody>
      </p:sp>
      <p:sp>
        <p:nvSpPr>
          <p:cNvPr name="TextBox 14" id="14"/>
          <p:cNvSpPr txBox="true"/>
          <p:nvPr/>
        </p:nvSpPr>
        <p:spPr>
          <a:xfrm rot="0">
            <a:off x="2340506" y="3621819"/>
            <a:ext cx="7903466" cy="4083114"/>
          </a:xfrm>
          <a:prstGeom prst="rect">
            <a:avLst/>
          </a:prstGeom>
        </p:spPr>
        <p:txBody>
          <a:bodyPr anchor="t" rtlCol="false" tIns="0" lIns="0" bIns="0" rIns="0">
            <a:spAutoFit/>
          </a:bodyPr>
          <a:lstStyle/>
          <a:p>
            <a:pPr algn="just" marL="429640" indent="-214820" lvl="1">
              <a:lnSpc>
                <a:spcPts val="2487"/>
              </a:lnSpc>
              <a:buFont typeface="Arial"/>
              <a:buChar char="•"/>
            </a:pPr>
            <a:r>
              <a:rPr lang="en-US" sz="1989">
                <a:solidFill>
                  <a:srgbClr val="3B2C5D"/>
                </a:solidFill>
                <a:latin typeface="ABeeZee"/>
                <a:ea typeface="ABeeZee"/>
                <a:cs typeface="ABeeZee"/>
                <a:sym typeface="ABeeZee"/>
              </a:rPr>
              <a:t>Berdasarkan hasil analisis, teridentifikasi 496 gen dengan ekspresi berbeda antara jaringan tumor dan normal pankreas, terdiri dari 293 upregulated dan 203 downregulated</a:t>
            </a:r>
            <a:r>
              <a:rPr lang="en-US" sz="1989">
                <a:solidFill>
                  <a:srgbClr val="3B2C5D"/>
                </a:solidFill>
                <a:latin typeface="ABeeZee"/>
                <a:ea typeface="ABeeZee"/>
                <a:cs typeface="ABeeZee"/>
                <a:sym typeface="ABeeZee"/>
              </a:rPr>
              <a:t>.</a:t>
            </a:r>
          </a:p>
          <a:p>
            <a:pPr algn="just" marL="429640" indent="-214820" lvl="1">
              <a:lnSpc>
                <a:spcPts val="2487"/>
              </a:lnSpc>
              <a:buFont typeface="Arial"/>
              <a:buChar char="•"/>
            </a:pPr>
            <a:r>
              <a:rPr lang="en-US" sz="1989">
                <a:solidFill>
                  <a:srgbClr val="3B2C5D"/>
                </a:solidFill>
                <a:latin typeface="ABeeZee"/>
                <a:ea typeface="ABeeZee"/>
                <a:cs typeface="ABeeZee"/>
                <a:sym typeface="ABeeZee"/>
              </a:rPr>
              <a:t>Analisis GO menunjukkan bahwa remodeling matriks ekstraseluler dan perubahan adhesi sel menjadi proses dominan yang berkaitan dengan desmoplasia dan EMT pada kanker pankreas.</a:t>
            </a:r>
          </a:p>
          <a:p>
            <a:pPr algn="just" marL="429640" indent="-214820" lvl="1">
              <a:lnSpc>
                <a:spcPts val="2487"/>
              </a:lnSpc>
              <a:buFont typeface="Arial"/>
              <a:buChar char="•"/>
            </a:pPr>
            <a:r>
              <a:rPr lang="en-US" sz="1989">
                <a:solidFill>
                  <a:srgbClr val="3B2C5D"/>
                </a:solidFill>
                <a:latin typeface="ABeeZee"/>
                <a:ea typeface="ABeeZee"/>
                <a:cs typeface="ABeeZee"/>
                <a:sym typeface="ABeeZee"/>
              </a:rPr>
              <a:t>Analisis KEGG mengindikasikan hilangnya fungsi eksokrin pankreas serta perubahan mikro lingkungan tumor selama progresi PDAC. Temuan ini memberikan gambaran mekanisme molekuler kanker pankreas dan berpotensi mendukung pengembangan biomarker serta target terapi.</a:t>
            </a:r>
          </a:p>
        </p:txBody>
      </p:sp>
      <p:sp>
        <p:nvSpPr>
          <p:cNvPr name="Freeform 15" id="15"/>
          <p:cNvSpPr/>
          <p:nvPr/>
        </p:nvSpPr>
        <p:spPr>
          <a:xfrm flipH="false" flipV="true" rot="528139">
            <a:off x="0" y="-2908111"/>
            <a:ext cx="18769063" cy="7873622"/>
          </a:xfrm>
          <a:custGeom>
            <a:avLst/>
            <a:gdLst/>
            <a:ahLst/>
            <a:cxnLst/>
            <a:rect r="r" b="b" t="t" l="l"/>
            <a:pathLst>
              <a:path h="7873622" w="18769063">
                <a:moveTo>
                  <a:pt x="0" y="7873622"/>
                </a:moveTo>
                <a:lnTo>
                  <a:pt x="18769063" y="7873622"/>
                </a:lnTo>
                <a:lnTo>
                  <a:pt x="18769063" y="0"/>
                </a:lnTo>
                <a:lnTo>
                  <a:pt x="0" y="0"/>
                </a:lnTo>
                <a:lnTo>
                  <a:pt x="0" y="7873622"/>
                </a:lnTo>
                <a:close/>
              </a:path>
            </a:pathLst>
          </a:custGeom>
          <a:blipFill>
            <a:blip r:embed="rId5">
              <a:alphaModFix amt="44999"/>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10075685" y="7010351"/>
            <a:ext cx="1930331" cy="2008146"/>
          </a:xfrm>
          <a:custGeom>
            <a:avLst/>
            <a:gdLst/>
            <a:ahLst/>
            <a:cxnLst/>
            <a:rect r="r" b="b" t="t" l="l"/>
            <a:pathLst>
              <a:path h="2008146" w="1930331">
                <a:moveTo>
                  <a:pt x="0" y="0"/>
                </a:moveTo>
                <a:lnTo>
                  <a:pt x="1930330" y="0"/>
                </a:lnTo>
                <a:lnTo>
                  <a:pt x="1930330" y="2008146"/>
                </a:lnTo>
                <a:lnTo>
                  <a:pt x="0" y="20081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0">
            <a:off x="1229149" y="1586705"/>
            <a:ext cx="2078706" cy="1883828"/>
          </a:xfrm>
          <a:custGeom>
            <a:avLst/>
            <a:gdLst/>
            <a:ahLst/>
            <a:cxnLst/>
            <a:rect r="r" b="b" t="t" l="l"/>
            <a:pathLst>
              <a:path h="1883828" w="2078706">
                <a:moveTo>
                  <a:pt x="0" y="0"/>
                </a:moveTo>
                <a:lnTo>
                  <a:pt x="2078707" y="0"/>
                </a:lnTo>
                <a:lnTo>
                  <a:pt x="2078707" y="1883827"/>
                </a:lnTo>
                <a:lnTo>
                  <a:pt x="0" y="1883827"/>
                </a:lnTo>
                <a:lnTo>
                  <a:pt x="0" y="0"/>
                </a:lnTo>
                <a:close/>
              </a:path>
            </a:pathLst>
          </a:custGeom>
          <a:blipFill>
            <a:blip r:embed="rId9"/>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14112">
            <a:off x="12487541" y="6421841"/>
            <a:ext cx="9543518" cy="5604788"/>
          </a:xfrm>
          <a:custGeom>
            <a:avLst/>
            <a:gdLst/>
            <a:ahLst/>
            <a:cxnLst/>
            <a:rect r="r" b="b" t="t" l="l"/>
            <a:pathLst>
              <a:path h="5604788" w="9543518">
                <a:moveTo>
                  <a:pt x="0" y="0"/>
                </a:moveTo>
                <a:lnTo>
                  <a:pt x="9543518" y="0"/>
                </a:lnTo>
                <a:lnTo>
                  <a:pt x="9543518" y="5604788"/>
                </a:lnTo>
                <a:lnTo>
                  <a:pt x="0" y="5604788"/>
                </a:lnTo>
                <a:lnTo>
                  <a:pt x="0" y="0"/>
                </a:lnTo>
                <a:close/>
              </a:path>
            </a:pathLst>
          </a:custGeom>
          <a:blipFill>
            <a:blip r:embed="rId2">
              <a:alphaModFix amt="44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40531" y="5321489"/>
            <a:ext cx="18769063" cy="7873622"/>
          </a:xfrm>
          <a:custGeom>
            <a:avLst/>
            <a:gdLst/>
            <a:ahLst/>
            <a:cxnLst/>
            <a:rect r="r" b="b" t="t" l="l"/>
            <a:pathLst>
              <a:path h="7873622" w="18769063">
                <a:moveTo>
                  <a:pt x="0" y="0"/>
                </a:moveTo>
                <a:lnTo>
                  <a:pt x="18769062" y="0"/>
                </a:lnTo>
                <a:lnTo>
                  <a:pt x="18769062" y="7873622"/>
                </a:lnTo>
                <a:lnTo>
                  <a:pt x="0" y="7873622"/>
                </a:lnTo>
                <a:lnTo>
                  <a:pt x="0" y="0"/>
                </a:lnTo>
                <a:close/>
              </a:path>
            </a:pathLst>
          </a:custGeom>
          <a:blipFill>
            <a:blip r:embed="rId4">
              <a:alphaModFix amt="44999"/>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561835" y="8528013"/>
            <a:ext cx="1327286" cy="1543356"/>
          </a:xfrm>
          <a:custGeom>
            <a:avLst/>
            <a:gdLst/>
            <a:ahLst/>
            <a:cxnLst/>
            <a:rect r="r" b="b" t="t" l="l"/>
            <a:pathLst>
              <a:path h="1543356" w="1327286">
                <a:moveTo>
                  <a:pt x="0" y="0"/>
                </a:moveTo>
                <a:lnTo>
                  <a:pt x="1327286" y="0"/>
                </a:lnTo>
                <a:lnTo>
                  <a:pt x="1327286" y="1543356"/>
                </a:lnTo>
                <a:lnTo>
                  <a:pt x="0" y="15433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601400" y="-398656"/>
            <a:ext cx="3686600" cy="4114800"/>
          </a:xfrm>
          <a:custGeom>
            <a:avLst/>
            <a:gdLst/>
            <a:ahLst/>
            <a:cxnLst/>
            <a:rect r="r" b="b" t="t" l="l"/>
            <a:pathLst>
              <a:path h="4114800" w="3686600">
                <a:moveTo>
                  <a:pt x="0" y="0"/>
                </a:moveTo>
                <a:lnTo>
                  <a:pt x="3686600" y="0"/>
                </a:lnTo>
                <a:lnTo>
                  <a:pt x="36866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2963242" y="3992336"/>
            <a:ext cx="12361515" cy="2064203"/>
          </a:xfrm>
          <a:prstGeom prst="rect">
            <a:avLst/>
          </a:prstGeom>
        </p:spPr>
        <p:txBody>
          <a:bodyPr anchor="t" rtlCol="false" tIns="0" lIns="0" bIns="0" rIns="0">
            <a:spAutoFit/>
          </a:bodyPr>
          <a:lstStyle/>
          <a:p>
            <a:pPr algn="ctr">
              <a:lnSpc>
                <a:spcPts val="16859"/>
              </a:lnSpc>
            </a:pPr>
            <a:r>
              <a:rPr lang="en-US" sz="12042">
                <a:solidFill>
                  <a:srgbClr val="3B2C5D"/>
                </a:solidFill>
                <a:latin typeface="Zen Dots"/>
                <a:ea typeface="Zen Dots"/>
                <a:cs typeface="Zen Dots"/>
                <a:sym typeface="Zen Dots"/>
              </a:rPr>
              <a:t>THANK YOU</a:t>
            </a:r>
          </a:p>
        </p:txBody>
      </p:sp>
      <p:sp>
        <p:nvSpPr>
          <p:cNvPr name="Freeform 7" id="7"/>
          <p:cNvSpPr/>
          <p:nvPr/>
        </p:nvSpPr>
        <p:spPr>
          <a:xfrm flipH="false" flipV="false" rot="-94855">
            <a:off x="14635382" y="3532825"/>
            <a:ext cx="3583673" cy="5047427"/>
          </a:xfrm>
          <a:custGeom>
            <a:avLst/>
            <a:gdLst/>
            <a:ahLst/>
            <a:cxnLst/>
            <a:rect r="r" b="b" t="t" l="l"/>
            <a:pathLst>
              <a:path h="5047427" w="3583673">
                <a:moveTo>
                  <a:pt x="0" y="0"/>
                </a:moveTo>
                <a:lnTo>
                  <a:pt x="3583673" y="0"/>
                </a:lnTo>
                <a:lnTo>
                  <a:pt x="3583673" y="5047427"/>
                </a:lnTo>
                <a:lnTo>
                  <a:pt x="0" y="50474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5665955" y="208628"/>
            <a:ext cx="2490774" cy="2391143"/>
          </a:xfrm>
          <a:custGeom>
            <a:avLst/>
            <a:gdLst/>
            <a:ahLst/>
            <a:cxnLst/>
            <a:rect r="r" b="b" t="t" l="l"/>
            <a:pathLst>
              <a:path h="2391143" w="2490774">
                <a:moveTo>
                  <a:pt x="0" y="0"/>
                </a:moveTo>
                <a:lnTo>
                  <a:pt x="2490774" y="0"/>
                </a:lnTo>
                <a:lnTo>
                  <a:pt x="2490774" y="2391143"/>
                </a:lnTo>
                <a:lnTo>
                  <a:pt x="0" y="239114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11009559" y="7617567"/>
            <a:ext cx="1709097" cy="1640733"/>
          </a:xfrm>
          <a:custGeom>
            <a:avLst/>
            <a:gdLst/>
            <a:ahLst/>
            <a:cxnLst/>
            <a:rect r="r" b="b" t="t" l="l"/>
            <a:pathLst>
              <a:path h="1640733" w="1709097">
                <a:moveTo>
                  <a:pt x="0" y="0"/>
                </a:moveTo>
                <a:lnTo>
                  <a:pt x="1709097" y="0"/>
                </a:lnTo>
                <a:lnTo>
                  <a:pt x="1709097" y="1640733"/>
                </a:lnTo>
                <a:lnTo>
                  <a:pt x="0" y="164073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11864108" y="1779404"/>
            <a:ext cx="1709097" cy="1640733"/>
          </a:xfrm>
          <a:custGeom>
            <a:avLst/>
            <a:gdLst/>
            <a:ahLst/>
            <a:cxnLst/>
            <a:rect r="r" b="b" t="t" l="l"/>
            <a:pathLst>
              <a:path h="1640733" w="1709097">
                <a:moveTo>
                  <a:pt x="0" y="0"/>
                </a:moveTo>
                <a:lnTo>
                  <a:pt x="1709097" y="0"/>
                </a:lnTo>
                <a:lnTo>
                  <a:pt x="1709097" y="1640733"/>
                </a:lnTo>
                <a:lnTo>
                  <a:pt x="0" y="164073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16306308" y="8437933"/>
            <a:ext cx="1210068" cy="1161666"/>
          </a:xfrm>
          <a:custGeom>
            <a:avLst/>
            <a:gdLst/>
            <a:ahLst/>
            <a:cxnLst/>
            <a:rect r="r" b="b" t="t" l="l"/>
            <a:pathLst>
              <a:path h="1161666" w="1210068">
                <a:moveTo>
                  <a:pt x="0" y="0"/>
                </a:moveTo>
                <a:lnTo>
                  <a:pt x="1210068" y="0"/>
                </a:lnTo>
                <a:lnTo>
                  <a:pt x="1210068" y="1161666"/>
                </a:lnTo>
                <a:lnTo>
                  <a:pt x="0" y="116166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0">
            <a:off x="13573205" y="361399"/>
            <a:ext cx="1477089" cy="1418005"/>
          </a:xfrm>
          <a:custGeom>
            <a:avLst/>
            <a:gdLst/>
            <a:ahLst/>
            <a:cxnLst/>
            <a:rect r="r" b="b" t="t" l="l"/>
            <a:pathLst>
              <a:path h="1418005" w="1477089">
                <a:moveTo>
                  <a:pt x="0" y="0"/>
                </a:moveTo>
                <a:lnTo>
                  <a:pt x="1477089" y="0"/>
                </a:lnTo>
                <a:lnTo>
                  <a:pt x="1477089" y="1418005"/>
                </a:lnTo>
                <a:lnTo>
                  <a:pt x="0" y="141800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13112401" y="6082671"/>
            <a:ext cx="4424713" cy="4424713"/>
          </a:xfrm>
          <a:custGeom>
            <a:avLst/>
            <a:gdLst/>
            <a:ahLst/>
            <a:cxnLst/>
            <a:rect r="r" b="b" t="t" l="l"/>
            <a:pathLst>
              <a:path h="4424713" w="4424713">
                <a:moveTo>
                  <a:pt x="0" y="0"/>
                </a:moveTo>
                <a:lnTo>
                  <a:pt x="4424713" y="0"/>
                </a:lnTo>
                <a:lnTo>
                  <a:pt x="4424713" y="4424713"/>
                </a:lnTo>
                <a:lnTo>
                  <a:pt x="0" y="4424713"/>
                </a:lnTo>
                <a:lnTo>
                  <a:pt x="0" y="0"/>
                </a:lnTo>
                <a:close/>
              </a:path>
            </a:pathLst>
          </a:custGeom>
          <a:blipFill>
            <a:blip r:embed="rId16"/>
            <a:stretch>
              <a:fillRect l="0" t="0" r="0" b="0"/>
            </a:stretch>
          </a:blipFill>
        </p:spPr>
      </p:sp>
      <p:sp>
        <p:nvSpPr>
          <p:cNvPr name="Freeform 14" id="14"/>
          <p:cNvSpPr/>
          <p:nvPr/>
        </p:nvSpPr>
        <p:spPr>
          <a:xfrm flipH="false" flipV="false" rot="-7292218">
            <a:off x="-4854248" y="-7807424"/>
            <a:ext cx="10616097" cy="15614849"/>
          </a:xfrm>
          <a:custGeom>
            <a:avLst/>
            <a:gdLst/>
            <a:ahLst/>
            <a:cxnLst/>
            <a:rect r="r" b="b" t="t" l="l"/>
            <a:pathLst>
              <a:path h="15614849" w="10616097">
                <a:moveTo>
                  <a:pt x="0" y="0"/>
                </a:moveTo>
                <a:lnTo>
                  <a:pt x="10616097" y="0"/>
                </a:lnTo>
                <a:lnTo>
                  <a:pt x="10616097" y="15614848"/>
                </a:lnTo>
                <a:lnTo>
                  <a:pt x="0" y="15614848"/>
                </a:lnTo>
                <a:lnTo>
                  <a:pt x="0" y="0"/>
                </a:lnTo>
                <a:close/>
              </a:path>
            </a:pathLst>
          </a:custGeom>
          <a:blipFill>
            <a:blip r:embed="rId17"/>
            <a:stretch>
              <a:fillRect l="0" t="0" r="-25692"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DAHJ_bTcrx8</dc:identifier>
  <dcterms:modified xsi:type="dcterms:W3CDTF">2011-08-01T06:04:30Z</dcterms:modified>
  <cp:revision>1</cp:revision>
  <dc:title>PROYEK BIOINFORMATIKA KELOMPOK 4 SENIN</dc:title>
</cp:coreProperties>
</file>